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fa3e28ee2744f6" /><Relationship Type="http://schemas.openxmlformats.org/officeDocument/2006/relationships/extended-properties" Target="/docProps/app.xml" Id="R5844e5a9691640db" /><Relationship Type="http://schemas.openxmlformats.org/officeDocument/2006/relationships/officeDocument" Target="/ppt/presentation.xml" Id="R41d6b577d76b4643" /></Relationships>
</file>

<file path=ppt/presentation.xml><?xml version="1.0" encoding="utf-8"?>
<p:presentation xmlns:p="http://schemas.openxmlformats.org/presentationml/2006/main">
  <p:sldMasterIdLst>
    <p:sldMasterId xmlns:r="http://schemas.openxmlformats.org/officeDocument/2006/relationships" id="2147483648" r:id="R5b5bc9437f2e4d62"/>
  </p:sldMasterIdLst>
  <p:notesMasterIdLst>
    <p:notesMasterId xmlns:r="http://schemas.openxmlformats.org/officeDocument/2006/relationships" r:id="R51d61ed6284a4b9d"/>
  </p:notesMasterIdLst>
  <p:sldIdLst>
    <p:sldId xmlns:r="http://schemas.openxmlformats.org/officeDocument/2006/relationships" id="256" r:id="R11bc1d227da84fd8"/>
    <p:sldId xmlns:r="http://schemas.openxmlformats.org/officeDocument/2006/relationships" id="257" r:id="Rcd219b87036e426d"/>
    <p:sldId xmlns:r="http://schemas.openxmlformats.org/officeDocument/2006/relationships" id="258" r:id="R72c94bb8d5c24c7b"/>
    <p:sldId xmlns:r="http://schemas.openxmlformats.org/officeDocument/2006/relationships" id="259" r:id="R68818cb4ccd146d5"/>
    <p:sldId xmlns:r="http://schemas.openxmlformats.org/officeDocument/2006/relationships" id="260" r:id="R93fd7dc7e1a449fe"/>
    <p:sldId xmlns:r="http://schemas.openxmlformats.org/officeDocument/2006/relationships" id="261" r:id="R08e1ac203a95485d"/>
    <p:sldId xmlns:r="http://schemas.openxmlformats.org/officeDocument/2006/relationships" id="262" r:id="Rf3d35a756e7c4ee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3c6f4fab3048ab" /><Relationship Type="http://schemas.openxmlformats.org/officeDocument/2006/relationships/slideMaster" Target="/ppt/slideMasters/slideMaster1.xml" Id="R5b5bc9437f2e4d62" /><Relationship Type="http://schemas.openxmlformats.org/officeDocument/2006/relationships/notesMaster" Target="/ppt/notesMasters/notesMaster1.xml" Id="R51d61ed6284a4b9d" /><Relationship Type="http://schemas.openxmlformats.org/officeDocument/2006/relationships/presProps" Target="/ppt/presProps.xml" Id="R9725a257295a4888" /><Relationship Type="http://schemas.openxmlformats.org/officeDocument/2006/relationships/tableStyles" Target="/ppt/tableStyles.xml" Id="R3e8fc91fbdfb4181" /><Relationship Type="http://schemas.openxmlformats.org/officeDocument/2006/relationships/slide" Target="/ppt/slides/slide1.xml" Id="R11bc1d227da84fd8" /><Relationship Type="http://schemas.openxmlformats.org/officeDocument/2006/relationships/slide" Target="/ppt/slides/slide2.xml" Id="Rcd219b87036e426d" /><Relationship Type="http://schemas.openxmlformats.org/officeDocument/2006/relationships/slide" Target="/ppt/slides/slide3.xml" Id="R72c94bb8d5c24c7b" /><Relationship Type="http://schemas.openxmlformats.org/officeDocument/2006/relationships/slide" Target="/ppt/slides/slide4.xml" Id="R68818cb4ccd146d5" /><Relationship Type="http://schemas.openxmlformats.org/officeDocument/2006/relationships/slide" Target="/ppt/slides/slide5.xml" Id="R93fd7dc7e1a449fe" /><Relationship Type="http://schemas.openxmlformats.org/officeDocument/2006/relationships/slide" Target="/ppt/slides/slide6.xml" Id="R08e1ac203a95485d" /><Relationship Type="http://schemas.openxmlformats.org/officeDocument/2006/relationships/slide" Target="/ppt/slides/slide7.xml" Id="Rf3d35a756e7c4e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4cbc8ad0e64f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342900" dist="138686" dir="4443276">
              <a:srgbClr val="000000">
                <a:alpha val="36000"/>
              </a:srgbClr>
            </a:outerShdw>
          </a:effectLst>
        </a:effectStyle>
        <a:effectStyle>
          <a:effectLst>
            <a:outerShdw blurRad="342900" dist="138686" dir="4443276">
              <a:srgbClr val="000000">
                <a:alpha val="3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0f6e2952b54091" /><Relationship Type="http://schemas.openxmlformats.org/officeDocument/2006/relationships/notesMaster" Target="/ppt/notesMasters/notesMaster1.xml" Id="R883a53b8235949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10c723332543a1" /><Relationship Type="http://schemas.openxmlformats.org/officeDocument/2006/relationships/notesMaster" Target="/ppt/notesMasters/notesMaster1.xml" Id="R7da6b6d06ebc44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8f9572001e41cc" /><Relationship Type="http://schemas.openxmlformats.org/officeDocument/2006/relationships/notesMaster" Target="/ppt/notesMasters/notesMaster1.xml" Id="Red65932861b541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228d4d639d43cc" /><Relationship Type="http://schemas.openxmlformats.org/officeDocument/2006/relationships/notesMaster" Target="/ppt/notesMasters/notesMaster1.xml" Id="R3557b2a70c7641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975c97fd914697" /><Relationship Type="http://schemas.openxmlformats.org/officeDocument/2006/relationships/notesMaster" Target="/ppt/notesMasters/notesMaster1.xml" Id="R388d48e791bf46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86720d74b94663" /><Relationship Type="http://schemas.openxmlformats.org/officeDocument/2006/relationships/notesMaster" Target="/ppt/notesMasters/notesMaster1.xml" Id="R7897e222724b46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85d27afb024ffc" /><Relationship Type="http://schemas.openxmlformats.org/officeDocument/2006/relationships/notesMaster" Target="/ppt/notesMasters/notesMaster1.xml" Id="Rcf4546433aa241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Obol gives autonomous agents a programmable USDC budget for pay-per-read information. The core promise is precise: the agent can decide what is worth buying, the creator can be paid per use, and Arc can verify the resulting transfer proof.</a:t>
            </a:r>
          </a:p>
          <a:p xmlns:a="http://schemas.openxmlformats.org/drawingml/2006/main">
            <a:r>
              <a:t/>
            </a:r>
          </a:p>
          <a:p xmlns:a="http://schemas.openxmlformats.org/drawingml/2006/main">
            <a:r>
              <a:t>[Sources]</a:t>
            </a:r>
          </a:p>
          <a:p xmlns:a="http://schemas.openxmlformats.org/drawingml/2006/main">
            <a:r>
              <a:t>- https://github.com/xiangchengzilema/obol-programmable-money</a:t>
            </a:r>
          </a:p>
          <a:p xmlns:a="http://schemas.openxmlformats.org/drawingml/2006/main">
            <a:r>
              <a:t>- https://github.com/xiangchengzilema/obol-programmable-money/blob/main/README.md</a:t>
            </a:r>
          </a:p>
          <a:p xmlns:a="http://schemas.openxmlformats.org/drawingml/2006/main">
            <a:r>
              <a:t>- https://obol-programmable-money.onrender.com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Subscriptions are too coarse for single machine reads, checkout is too manual for autonomous agents, and ordinary payment records do not explain the decision. Obol treats a read as a policy-governed purchase rather than a blank cheque.</a:t>
            </a:r>
          </a:p>
          <a:p xmlns:a="http://schemas.openxmlformats.org/drawingml/2006/main">
            <a:r>
              <a:t/>
            </a:r>
          </a:p>
          <a:p xmlns:a="http://schemas.openxmlformats.org/drawingml/2006/main">
            <a:r>
              <a:t>[Sources]</a:t>
            </a:r>
          </a:p>
          <a:p xmlns:a="http://schemas.openxmlformats.org/drawingml/2006/main">
            <a:r>
              <a:t>- https://github.com/xiangchengzilema/obol-programmable-money/blob/main/README.md</a:t>
            </a:r>
          </a:p>
          <a:p xmlns:a="http://schemas.openxmlformats.org/drawingml/2006/main">
            <a:r>
              <a:t>- https://github.com/xiangchengzilema/obol-programmable-money/blob/main/PROGRAMMABLE_MONEY_SUBMISSION.md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judge flow is deterministic: set a budget, run the agent, and inspect buy, reuse, skip, and stop decisions. The public playground is intentionally forced mock and fail-closed. Its purpose is to make the product logic easy to review without pretending that anonymous visitors move real funds.</a:t>
            </a:r>
          </a:p>
          <a:p xmlns:a="http://schemas.openxmlformats.org/drawingml/2006/main">
            <a:r>
              <a:t/>
            </a:r>
          </a:p>
          <a:p xmlns:a="http://schemas.openxmlformats.org/drawingml/2006/main">
            <a:r>
              <a:t>[Sources]</a:t>
            </a:r>
          </a:p>
          <a:p xmlns:a="http://schemas.openxmlformats.org/drawingml/2006/main">
            <a:r>
              <a:t>- https://obol-programmable-money.onrender.com</a:t>
            </a:r>
          </a:p>
          <a:p xmlns:a="http://schemas.openxmlformats.org/drawingml/2006/main">
            <a:r>
              <a:t>- https://github.com/xiangchengzilema/obol-programmable-money/blob/main/backend/wsgi.py</a:t>
            </a:r>
          </a:p>
          <a:p xmlns:a="http://schemas.openxmlformats.org/drawingml/2006/main">
            <a:r>
              <a:t>- https://github.com/xiangchengzilema/obol-programmable-money/blob/main/backend/app.py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Obol makes money part of the agent loop. It first scores value, then applies explicit spending guards, and only then settles. Every outcome includes a human-readable explanation and the before-and-after budget state.</a:t>
            </a:r>
          </a:p>
          <a:p xmlns:a="http://schemas.openxmlformats.org/drawingml/2006/main">
            <a:r>
              <a:t/>
            </a:r>
          </a:p>
          <a:p xmlns:a="http://schemas.openxmlformats.org/drawingml/2006/main">
            <a:r>
              <a:t>[Sources]</a:t>
            </a:r>
          </a:p>
          <a:p xmlns:a="http://schemas.openxmlformats.org/drawingml/2006/main">
            <a:r>
              <a:t>- https://github.com/xiangchengzilema/obol-programmable-money/blob/main/backend/agent.py</a:t>
            </a:r>
          </a:p>
          <a:p xmlns:a="http://schemas.openxmlformats.org/drawingml/2006/main">
            <a:r>
              <a:t>- https://github.com/xiangchengzilema/obol-programmable-money/blob/main/backend/app.py</a:t>
            </a:r>
          </a:p>
          <a:p xmlns:a="http://schemas.openxmlformats.org/drawingml/2006/main">
            <a:r>
              <a:t>- https://github.com/xiangchengzilema/obol-programmable-money/blob/main/ARC_ITERATION_CHANGELOG.md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submission's real Arc evidence. A policy-constrained agent spent one cent from a five-cent budget, preserved four cents, and stopped after reaching 67 percent coverage. Circle reported COMPLETE and two Arc RPC endpoints returned the same successful receipt. This was testnet evaluation activity, not production revenue or public-demo activity.</a:t>
            </a:r>
          </a:p>
          <a:p xmlns:a="http://schemas.openxmlformats.org/drawingml/2006/main">
            <a:r>
              <a:t/>
            </a:r>
          </a:p>
          <a:p xmlns:a="http://schemas.openxmlformats.org/drawingml/2006/main">
            <a:r>
              <a:t>[Sources]</a:t>
            </a:r>
          </a:p>
          <a:p xmlns:a="http://schemas.openxmlformats.org/drawingml/2006/main">
            <a:r>
              <a:t>- https://github.com/xiangchengzilema/obol-programmable-money/blob/main/evidence/arc-testnet-agent-run-20260806.json</a:t>
            </a:r>
          </a:p>
          <a:p xmlns:a="http://schemas.openxmlformats.org/drawingml/2006/main">
            <a:r>
              <a:t>- https://testnet.arcscan.app/tx/0x03a7e7c96283b545798d101d46a4fb48865bcb069fdba2311352fe9e56b92809</a:t>
            </a:r>
          </a:p>
          <a:p xmlns:a="http://schemas.openxmlformats.org/drawingml/2006/main">
            <a:r>
              <a:t>- https://docs.arc.io/arc/references/connect-to-arc</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Obol is an openly disclosed continuation of a frozen Lepton MVP, not a from-scratch claim. This Arc iteration adds request-scoped spending guards, policy and stop audits, a fail-closed deployment posture, fresh testnet evidence, and stricter server-side verification. The current build passes 46 backend tests.</a:t>
            </a:r>
          </a:p>
          <a:p xmlns:a="http://schemas.openxmlformats.org/drawingml/2006/main">
            <a:r>
              <a:t/>
            </a:r>
          </a:p>
          <a:p xmlns:a="http://schemas.openxmlformats.org/drawingml/2006/main">
            <a:r>
              <a:t>[Sources]</a:t>
            </a:r>
          </a:p>
          <a:p xmlns:a="http://schemas.openxmlformats.org/drawingml/2006/main">
            <a:r>
              <a:t>- https://github.com/xiangchengzilema/obol-programmable-money/blob/main/ARC_ITERATION_CHANGELOG.md</a:t>
            </a:r>
          </a:p>
          <a:p xmlns:a="http://schemas.openxmlformats.org/drawingml/2006/main">
            <a:r>
              <a:t>- https://github.com/xiangchengzilema/obol-programmable-money/blob/main/backend/test_obol.py</a:t>
            </a:r>
          </a:p>
          <a:p xmlns:a="http://schemas.openxmlformats.org/drawingml/2006/main">
            <a:r>
              <a:t>- https://github.com/xiangchengzilema/obol-programmable-money/blob/main/backend/circle_service.py</a:t>
            </a:r>
          </a:p>
          <a:p xmlns:a="http://schemas.openxmlformats.org/drawingml/2006/main">
            <a:r>
              <a:t>- https://github.com/xiangchengzilema/obol-programmable-money/blob/main/backend/x402.py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closing thesis is simple: machine reading should carry a price, a policy, and a receipt. The public demo, public repository, final video, and Arcscan evidence are all available for review. The public playground remains forced mock; the live proof is a separate Arc Testnet evaluation.</a:t>
            </a:r>
          </a:p>
          <a:p xmlns:a="http://schemas.openxmlformats.org/drawingml/2006/main">
            <a:r>
              <a:t/>
            </a:r>
          </a:p>
          <a:p xmlns:a="http://schemas.openxmlformats.org/drawingml/2006/main">
            <a:r>
              <a:t>[Sources]</a:t>
            </a:r>
          </a:p>
          <a:p xmlns:a="http://schemas.openxmlformats.org/drawingml/2006/main">
            <a:r>
              <a:t>- https://obol-programmable-money.onrender.com</a:t>
            </a:r>
          </a:p>
          <a:p xmlns:a="http://schemas.openxmlformats.org/drawingml/2006/main">
            <a:r>
              <a:t>- https://github.com/xiangchengzilema/obol-programmable-money</a:t>
            </a:r>
          </a:p>
          <a:p xmlns:a="http://schemas.openxmlformats.org/drawingml/2006/main">
            <a:r>
              <a:t>- https://github.com/xiangchengzilema/obol-programmable-money/raw/refs/heads/main/media/submit/Obol_Arc_Programmable_Money_Demo_Final.mp4</a:t>
            </a:r>
          </a:p>
          <a:p xmlns:a="http://schemas.openxmlformats.org/drawingml/2006/main">
            <a:r>
              <a:t>- https://testnet.arcscan.app/tx/0x03a7e7c96283b545798d101d46a4fb48865bcb069fdba2311352fe9e56b92809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2c2a3190ab40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d3e1c255f04acd" /><Relationship Type="http://schemas.openxmlformats.org/officeDocument/2006/relationships/slideLayout" Target="/ppt/slideLayouts/slideLayout1.xml" Id="Rf510274167ed46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10274167ed46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8ec4798bb74edf" /><Relationship Type="http://schemas.openxmlformats.org/officeDocument/2006/relationships/image" Target="/ppt/media/image.png" Id="R28d51ea4fa634a97" /><Relationship Type="http://schemas.openxmlformats.org/officeDocument/2006/relationships/notesSlide" Target="/ppt/notesSlides/notesSlide1.xml" Id="R5f66f855e99d4af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3a8a81757446ac" /><Relationship Type="http://schemas.openxmlformats.org/officeDocument/2006/relationships/notesSlide" Target="/ppt/notesSlides/notesSlide2.xml" Id="Re70b2da6f9b74e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cc36b6cc8444ea7" /><Relationship Type="http://schemas.openxmlformats.org/officeDocument/2006/relationships/image" Target="/ppt/media/image2.png" Id="Rbbeeb820de9c4450" /><Relationship Type="http://schemas.openxmlformats.org/officeDocument/2006/relationships/notesSlide" Target="/ppt/notesSlides/notesSlide3.xml" Id="R9c89d9ce15fb46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6510f2df64f4beb" /><Relationship Type="http://schemas.openxmlformats.org/officeDocument/2006/relationships/notesSlide" Target="/ppt/notesSlides/notesSlide4.xml" Id="Ree1af51f0db148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b077ff43654191" /><Relationship Type="http://schemas.openxmlformats.org/officeDocument/2006/relationships/hyperlink" Target="https://testnet.arcscan.app/tx/0x03a7e7c96283b545798d101d46a4fb48865bcb069fdba2311352fe9e56b92809" TargetMode="External" Id="R16bb8f17e92144b9" /><Relationship Type="http://schemas.openxmlformats.org/officeDocument/2006/relationships/notesSlide" Target="/ppt/notesSlides/notesSlide5.xml" Id="Rfc717f593bb841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d626f7c21d94bf6" /><Relationship Type="http://schemas.openxmlformats.org/officeDocument/2006/relationships/image" Target="/ppt/media/image3.png" Id="R9ce71b000fa14054" /><Relationship Type="http://schemas.openxmlformats.org/officeDocument/2006/relationships/notesSlide" Target="/ppt/notesSlides/notesSlide6.xml" Id="R7309162684cd493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59f3d7ebcdf4990" /><Relationship Type="http://schemas.openxmlformats.org/officeDocument/2006/relationships/hyperlink" Target="https://obol-programmable-money.onrender.com" TargetMode="External" Id="R0a896506f6904b81" /><Relationship Type="http://schemas.openxmlformats.org/officeDocument/2006/relationships/hyperlink" Target="https://github.com/xiangchengzilema/obol-programmable-money" TargetMode="External" Id="R7860cecda0834568" /><Relationship Type="http://schemas.openxmlformats.org/officeDocument/2006/relationships/hyperlink" Target="https://github.com/xiangchengzilema/obol-programmable-money/raw/refs/heads/main/media/submit/Obol_Arc_Programmable_Money_Demo_Final.mp4" TargetMode="External" Id="Rd03a15e7139b456d" /><Relationship Type="http://schemas.openxmlformats.org/officeDocument/2006/relationships/notesSlide" Target="/ppt/notesSlides/notesSlide7.xml" Id="R761cce47e01c4535" /></Relationships>
</file>

<file path=ppt/slides/slide1.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7" name="Title-3-1">
            <a:extLst xmlns:a="http://schemas.openxmlformats.org/drawingml/2006/main">
              <a:ext uri="{FF2B5EF4-FFF2-40B4-BE49-F238E27FC236}">
                <a16:creationId xmlns:a16="http://schemas.microsoft.com/office/drawing/2014/main" id="{F1DA4DE9-61C9-48A9-B008-36885C463E1D}"/>
              </a:ext>
            </a:extLst>
          </p:cNvPr>
          <p:cNvSpPr>
            <a:spLocks xmlns:a="http://schemas.openxmlformats.org/drawingml/2006/main" noGrp="1"/>
          </p:cNvSpPr>
          <p:nvPr/>
        </p:nvSpPr>
        <p:spPr>
          <a:xfrm xmlns:a="http://schemas.openxmlformats.org/drawingml/2006/main">
            <a:off x="685800" y="1466850"/>
            <a:ext cx="561975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0000"/>
              </a:lnSpc>
              <a:buNone/>
              <a:defRPr sz="6900" b="1">
                <a:solidFill>
                  <a:srgbClr val="F4F7F5"/>
                </a:solidFill>
                <a:latin typeface="Segoe UI"/>
                <a:ea typeface="Segoe UI"/>
                <a:cs typeface="Segoe UI"/>
              </a:defRPr>
            </a:pPr>
            <a:r>
              <a:rPr sz="6900" b="1">
                <a:solidFill>
                  <a:srgbClr val="F4F7F5"/>
                </a:solidFill>
                <a:latin typeface="Segoe UI"/>
                <a:ea typeface="Segoe UI"/>
                <a:cs typeface="Segoe UI"/>
              </a:rPr>
              <a:t>Obol</a:t>
            </a:r>
          </a:p>
        </p:txBody>
      </p:sp>
      <p:sp>
        <p:nvSpPr>
          <p:cNvPr id="2" name="Subtitle-4-2">
            <a:extLst xmlns:a="http://schemas.openxmlformats.org/drawingml/2006/main">
              <a:ext uri="{FF2B5EF4-FFF2-40B4-BE49-F238E27FC236}">
                <a16:creationId xmlns:a16="http://schemas.microsoft.com/office/drawing/2014/main" id="{A1A94A8C-440B-49A4-BA1A-C0E82701C2F1}"/>
              </a:ext>
            </a:extLst>
          </p:cNvPr>
          <p:cNvSpPr>
            <a:spLocks xmlns:a="http://schemas.openxmlformats.org/drawingml/2006/main" noGrp="1"/>
          </p:cNvSpPr>
          <p:nvPr/>
        </p:nvSpPr>
        <p:spPr>
          <a:xfrm xmlns:a="http://schemas.openxmlformats.org/drawingml/2006/main">
            <a:off x="704850" y="2781300"/>
            <a:ext cx="5619750" cy="2057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3600" b="0">
                <a:solidFill>
                  <a:srgbClr val="F4F7F5"/>
                </a:solidFill>
                <a:latin typeface="Segoe UI"/>
                <a:ea typeface="Segoe UI"/>
                <a:cs typeface="Segoe UI"/>
              </a:defRPr>
            </a:pPr>
            <a:r>
              <a:rPr sz="3600" b="0">
                <a:solidFill>
                  <a:srgbClr val="F4F7F5"/>
                </a:solidFill>
                <a:latin typeface="Segoe UI"/>
                <a:ea typeface="Segoe UI"/>
                <a:cs typeface="Segoe UI"/>
              </a:rPr>
              <a:t>Agent reads.</a:t>
            </a:r>
          </a:p>
          <a:p xmlns:a="http://schemas.openxmlformats.org/drawingml/2006/main">
            <a:pPr algn="l">
              <a:lnSpc>
                <a:spcPct val="94000"/>
              </a:lnSpc>
              <a:buNone/>
              <a:defRPr sz="3600" b="0">
                <a:solidFill>
                  <a:srgbClr val="F4F7F5"/>
                </a:solidFill>
                <a:latin typeface="Segoe UI"/>
                <a:ea typeface="Segoe UI"/>
                <a:cs typeface="Segoe UI"/>
              </a:defRPr>
            </a:pPr>
            <a:r>
              <a:rPr sz="3600" b="0">
                <a:solidFill>
                  <a:srgbClr val="F4F7F5"/>
                </a:solidFill>
                <a:latin typeface="Segoe UI"/>
                <a:ea typeface="Segoe UI"/>
                <a:cs typeface="Segoe UI"/>
              </a:rPr>
              <a:t>Creator gets paid.</a:t>
            </a:r>
          </a:p>
          <a:p xmlns:a="http://schemas.openxmlformats.org/drawingml/2006/main">
            <a:pPr algn="l">
              <a:lnSpc>
                <a:spcPct val="94000"/>
              </a:lnSpc>
              <a:buNone/>
              <a:defRPr sz="3600" b="0">
                <a:solidFill>
                  <a:srgbClr val="F4F7F5"/>
                </a:solidFill>
                <a:latin typeface="Segoe UI"/>
                <a:ea typeface="Segoe UI"/>
                <a:cs typeface="Segoe UI"/>
              </a:defRPr>
            </a:pPr>
            <a:r>
              <a:rPr sz="3600" b="0">
                <a:solidFill>
                  <a:srgbClr val="F4F7F5"/>
                </a:solidFill>
                <a:latin typeface="Segoe UI"/>
                <a:ea typeface="Segoe UI"/>
                <a:cs typeface="Segoe UI"/>
              </a:rPr>
              <a:t>Arc verifies the transfer.</a:t>
            </a:r>
          </a:p>
        </p:txBody>
      </p:sp>
      <p:sp>
        <p:nvSpPr>
          <p:cNvPr id="3" name="Subtitle-4-3">
            <a:extLst xmlns:a="http://schemas.openxmlformats.org/drawingml/2006/main">
              <a:ext uri="{FF2B5EF4-FFF2-40B4-BE49-F238E27FC236}">
                <a16:creationId xmlns:a16="http://schemas.microsoft.com/office/drawing/2014/main" id="{6E1BBBE8-D758-45D9-B532-B2E4469CAAAF}"/>
              </a:ext>
            </a:extLst>
          </p:cNvPr>
          <p:cNvSpPr>
            <a:spLocks xmlns:a="http://schemas.openxmlformats.org/drawingml/2006/main" noGrp="1"/>
          </p:cNvSpPr>
          <p:nvPr/>
        </p:nvSpPr>
        <p:spPr>
          <a:xfrm xmlns:a="http://schemas.openxmlformats.org/drawingml/2006/main">
            <a:off x="685800" y="514350"/>
            <a:ext cx="590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350" b="1">
                <a:solidFill>
                  <a:srgbClr val="67E8D3"/>
                </a:solidFill>
                <a:latin typeface="Segoe UI"/>
                <a:ea typeface="Segoe UI"/>
                <a:cs typeface="Segoe UI"/>
              </a:defRPr>
            </a:pPr>
            <a:r>
              <a:rPr sz="1350" b="1">
                <a:solidFill>
                  <a:srgbClr val="67E8D3"/>
                </a:solidFill>
                <a:latin typeface="Segoe UI"/>
                <a:ea typeface="Segoe UI"/>
                <a:cs typeface="Segoe UI"/>
              </a:rPr>
              <a:t>ARC PROGRAMMABLE MONEY  ·  AGENTIC ECONOMY</a:t>
            </a:r>
          </a:p>
        </p:txBody>
      </p:sp>
      <p:sp>
        <p:nvSpPr>
          <p:cNvPr id="4" name="orbit-contrast-field">
            <a:extLst xmlns:a="http://schemas.openxmlformats.org/drawingml/2006/main">
              <a:ext uri="{FF2B5EF4-FFF2-40B4-BE49-F238E27FC236}">
                <a16:creationId xmlns:a16="http://schemas.microsoft.com/office/drawing/2014/main" id="{8F8A1537-CD3A-4E5D-B17F-DEEE761936DB}"/>
              </a:ext>
            </a:extLst>
          </p:cNvPr>
          <p:cNvSpPr>
            <a:spLocks xmlns:a="http://schemas.openxmlformats.org/drawingml/2006/main" noGrp="1"/>
          </p:cNvSpPr>
          <p:nvPr/>
        </p:nvSpPr>
        <p:spPr>
          <a:xfrm xmlns:a="http://schemas.openxmlformats.org/drawingml/2006/main">
            <a:off x="7239000" y="1285875"/>
            <a:ext cx="4476750" cy="4810125"/>
          </a:xfrm>
          <a:prstGeom xmlns:a="http://schemas.openxmlformats.org/drawingml/2006/main" prst="roundRect">
            <a:avLst>
              <a:gd name="adj" fmla="val 6383"/>
            </a:avLst>
          </a:prstGeom>
          <a:solidFill xmlns:a="http://schemas.openxmlformats.org/drawingml/2006/main">
            <a:srgbClr val="0C1A22"/>
          </a:solidFill>
          <a:ln xmlns:a="http://schemas.openxmlformats.org/drawingml/2006/main" w="9525">
            <a:solidFill>
              <a:srgbClr val="21464A"/>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8d51ea4fa634a97"/>
          <a:stretch xmlns:a="http://schemas.openxmlformats.org/drawingml/2006/main"/>
        </p:blipFill>
        <p:spPr>
          <a:xfrm xmlns:a="http://schemas.openxmlformats.org/drawingml/2006/main">
            <a:off x="7448550" y="1485900"/>
            <a:ext cx="3771900" cy="3771900"/>
          </a:xfrm>
          <a:prstGeom xmlns:a="http://schemas.openxmlformats.org/drawingml/2006/main" prst="roundRect">
            <a:avLst>
              <a:gd name="adj" fmla="val 5556"/>
            </a:avLst>
          </a:prstGeom>
        </p:spPr>
      </p:pic>
      <p:sp>
        <p:nvSpPr>
          <p:cNvPr id="6" name="settlement-mode-label">
            <a:extLst xmlns:a="http://schemas.openxmlformats.org/drawingml/2006/main">
              <a:ext uri="{FF2B5EF4-FFF2-40B4-BE49-F238E27FC236}">
                <a16:creationId xmlns:a16="http://schemas.microsoft.com/office/drawing/2014/main" id="{6903A784-C3F8-415C-9848-F1D8775F69EC}"/>
              </a:ext>
            </a:extLst>
          </p:cNvPr>
          <p:cNvSpPr>
            <a:spLocks xmlns:a="http://schemas.openxmlformats.org/drawingml/2006/main" noGrp="1"/>
          </p:cNvSpPr>
          <p:nvPr/>
        </p:nvSpPr>
        <p:spPr>
          <a:xfrm xmlns:a="http://schemas.openxmlformats.org/drawingml/2006/main">
            <a:off x="8572500" y="495300"/>
            <a:ext cx="3009900" cy="381000"/>
          </a:xfrm>
          <a:prstGeom xmlns:a="http://schemas.openxmlformats.org/drawingml/2006/main" prst="roundRect">
            <a:avLst>
              <a:gd name="adj" fmla="val 45000"/>
            </a:avLst>
          </a:prstGeom>
          <a:solidFill xmlns:a="http://schemas.openxmlformats.org/drawingml/2006/main">
            <a:srgbClr val="0C1A22"/>
          </a:solidFill>
          <a:ln xmlns:a="http://schemas.openxmlformats.org/drawingml/2006/main" w="9525">
            <a:solidFill>
              <a:srgbClr val="67E8D3"/>
            </a:solidFill>
            <a:prstDash val="solid"/>
          </a:ln>
        </p:spPr>
        <p:txBody>
          <a:bodyPr xmlns:a="http://schemas.openxmlformats.org/drawingml/2006/main" wrap="square" lIns="114300" tIns="38100" rIns="114300" bIns="38100" anchor="ctr">
            <a:noAutofit/>
          </a:bodyPr>
          <a:lstStyle xmlns:a="http://schemas.openxmlformats.org/drawingml/2006/main"/>
          <a:p xmlns:a="http://schemas.openxmlformats.org/drawingml/2006/main">
            <a:pPr algn="ctr">
              <a:lnSpc>
                <a:spcPct val="100000"/>
              </a:lnSpc>
              <a:buNone/>
              <a:defRPr sz="1200" b="1">
                <a:solidFill>
                  <a:srgbClr val="67E8D3"/>
                </a:solidFill>
                <a:latin typeface="Segoe UI"/>
                <a:ea typeface="Segoe UI"/>
                <a:cs typeface="Segoe UI"/>
              </a:defRPr>
            </a:pPr>
            <a:r>
              <a:rPr sz="1200" b="1">
                <a:solidFill>
                  <a:srgbClr val="67E8D3"/>
                </a:solidFill>
                <a:latin typeface="Segoe UI"/>
                <a:ea typeface="Segoe UI"/>
                <a:cs typeface="Segoe UI"/>
              </a:rPr>
              <a:t>PUBLIC DEMO  ·  PUBLIC CODE</a:t>
            </a:r>
          </a:p>
        </p:txBody>
      </p:sp>
    </p:spTree>
    <p:extLst>
      <p:ext uri="{BB962C8B-B14F-4D97-AF65-F5344CB8AC3E}">
        <p14:creationId xmlns:p14="http://schemas.microsoft.com/office/powerpoint/2010/main" val="1157726766"/>
      </p:ext>
    </p:extLst>
  </p:cSld>
</p:sld>
</file>

<file path=ppt/slides/slide2.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14" name="Google-Shape-532-p58-2">
            <a:extLst xmlns:a="http://schemas.openxmlformats.org/drawingml/2006/main">
              <a:ext uri="{FF2B5EF4-FFF2-40B4-BE49-F238E27FC236}">
                <a16:creationId xmlns:a16="http://schemas.microsoft.com/office/drawing/2014/main" id="{EA715A68-74FD-4B50-A130-D99B29219EB9}"/>
              </a:ext>
            </a:extLst>
          </p:cNvPr>
          <p:cNvSpPr>
            <a:spLocks xmlns:a="http://schemas.openxmlformats.org/drawingml/2006/main" noGrp="1"/>
          </p:cNvSpPr>
          <p:nvPr/>
        </p:nvSpPr>
        <p:spPr>
          <a:xfrm xmlns:a="http://schemas.openxmlformats.org/drawingml/2006/main">
            <a:off x="11049000" y="419100"/>
            <a:ext cx="52387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100000"/>
              </a:lnSpc>
              <a:buNone/>
              <a:defRPr sz="1350" b="1">
                <a:solidFill>
                  <a:srgbClr val="60777D"/>
                </a:solidFill>
                <a:latin typeface="Segoe UI"/>
                <a:ea typeface="Segoe UI"/>
                <a:cs typeface="Segoe UI"/>
              </a:defRPr>
            </a:pPr>
            <a:r>
              <a:rPr sz="1350" b="1">
                <a:solidFill>
                  <a:srgbClr val="60777D"/>
                </a:solidFill>
                <a:latin typeface="Segoe UI"/>
                <a:ea typeface="Segoe UI"/>
                <a:cs typeface="Segoe UI"/>
              </a:rPr>
              <a:t>02</a:t>
            </a:r>
          </a:p>
        </p:txBody>
      </p:sp>
      <p:sp>
        <p:nvSpPr>
          <p:cNvPr id="2" name="Google-Shape-533-p58-3">
            <a:extLst xmlns:a="http://schemas.openxmlformats.org/drawingml/2006/main">
              <a:ext uri="{FF2B5EF4-FFF2-40B4-BE49-F238E27FC236}">
                <a16:creationId xmlns:a16="http://schemas.microsoft.com/office/drawing/2014/main" id="{E4E5E743-4255-4E8B-87ED-73E3CCCD76D2}"/>
              </a:ext>
            </a:extLst>
          </p:cNvPr>
          <p:cNvSpPr>
            <a:spLocks xmlns:a="http://schemas.openxmlformats.org/drawingml/2006/main" noGrp="1"/>
          </p:cNvSpPr>
          <p:nvPr/>
        </p:nvSpPr>
        <p:spPr>
          <a:xfrm xmlns:a="http://schemas.openxmlformats.org/drawingml/2006/main">
            <a:off x="685800" y="590550"/>
            <a:ext cx="9906000" cy="1181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3750" b="1">
                <a:solidFill>
                  <a:srgbClr val="F4F7F5"/>
                </a:solidFill>
                <a:latin typeface="Segoe UI"/>
                <a:ea typeface="Segoe UI"/>
                <a:cs typeface="Segoe UI"/>
              </a:defRPr>
            </a:pPr>
            <a:r>
              <a:rPr sz="3750" b="1">
                <a:solidFill>
                  <a:srgbClr val="F4F7F5"/>
                </a:solidFill>
                <a:latin typeface="Segoe UI"/>
                <a:ea typeface="Segoe UI"/>
                <a:cs typeface="Segoe UI"/>
              </a:rPr>
              <a:t>Machine reading is missing</a:t>
            </a:r>
          </a:p>
          <a:p xmlns:a="http://schemas.openxmlformats.org/drawingml/2006/main">
            <a:pPr algn="l">
              <a:lnSpc>
                <a:spcPct val="94000"/>
              </a:lnSpc>
              <a:buNone/>
              <a:defRPr sz="3750" b="1">
                <a:solidFill>
                  <a:srgbClr val="F4F7F5"/>
                </a:solidFill>
                <a:latin typeface="Segoe UI"/>
                <a:ea typeface="Segoe UI"/>
                <a:cs typeface="Segoe UI"/>
              </a:defRPr>
            </a:pPr>
            <a:r>
              <a:rPr sz="3750" b="1">
                <a:solidFill>
                  <a:srgbClr val="F4F7F5"/>
                </a:solidFill>
                <a:latin typeface="Segoe UI"/>
                <a:ea typeface="Segoe UI"/>
                <a:cs typeface="Segoe UI"/>
              </a:rPr>
              <a:t>a payment primitive.</a:t>
            </a:r>
          </a:p>
        </p:txBody>
      </p:sp>
      <p:sp>
        <p:nvSpPr>
          <p:cNvPr id="3" name="Rounded-Rectangle-9-4">
            <a:extLst xmlns:a="http://schemas.openxmlformats.org/drawingml/2006/main">
              <a:ext uri="{FF2B5EF4-FFF2-40B4-BE49-F238E27FC236}">
                <a16:creationId xmlns:a16="http://schemas.microsoft.com/office/drawing/2014/main" id="{C4A925B4-CD66-4771-AE5C-6E3A0CBDDD39}"/>
              </a:ext>
            </a:extLst>
          </p:cNvPr>
          <p:cNvSpPr>
            <a:spLocks xmlns:a="http://schemas.openxmlformats.org/drawingml/2006/main" noGrp="1"/>
          </p:cNvSpPr>
          <p:nvPr/>
        </p:nvSpPr>
        <p:spPr>
          <a:xfrm xmlns:a="http://schemas.openxmlformats.org/drawingml/2006/main">
            <a:off x="4308920" y="3365468"/>
            <a:ext cx="3568732" cy="2628900"/>
          </a:xfrm>
          <a:prstGeom xmlns:a="http://schemas.openxmlformats.org/drawingml/2006/main" prst="roundRect">
            <a:avLst>
              <a:gd name="adj" fmla="val 7971"/>
            </a:avLst>
          </a:prstGeom>
          <a:solidFill xmlns:a="http://schemas.openxmlformats.org/drawingml/2006/main">
            <a:srgbClr val="0C1A22"/>
          </a:solidFill>
          <a:ln xmlns:a="http://schemas.openxmlformats.org/drawingml/2006/main" w="9525">
            <a:solidFill>
              <a:srgbClr val="4D472B"/>
            </a:solidFill>
            <a:prstDash val="solid"/>
          </a:ln>
        </p:spPr>
      </p:sp>
      <p:sp>
        <p:nvSpPr>
          <p:cNvPr id="4" name="Rounded-Rectangle-10-5">
            <a:extLst xmlns:a="http://schemas.openxmlformats.org/drawingml/2006/main">
              <a:ext uri="{FF2B5EF4-FFF2-40B4-BE49-F238E27FC236}">
                <a16:creationId xmlns:a16="http://schemas.microsoft.com/office/drawing/2014/main" id="{20AB3557-05C7-4F41-9DC2-83E8A2ABEC0D}"/>
              </a:ext>
            </a:extLst>
          </p:cNvPr>
          <p:cNvSpPr>
            <a:spLocks xmlns:a="http://schemas.openxmlformats.org/drawingml/2006/main" noGrp="1"/>
          </p:cNvSpPr>
          <p:nvPr/>
        </p:nvSpPr>
        <p:spPr>
          <a:xfrm xmlns:a="http://schemas.openxmlformats.org/drawingml/2006/main">
            <a:off x="8229600" y="3365468"/>
            <a:ext cx="3568732" cy="2628900"/>
          </a:xfrm>
          <a:prstGeom xmlns:a="http://schemas.openxmlformats.org/drawingml/2006/main" prst="roundRect">
            <a:avLst>
              <a:gd name="adj" fmla="val 7971"/>
            </a:avLst>
          </a:prstGeom>
          <a:solidFill xmlns:a="http://schemas.openxmlformats.org/drawingml/2006/main">
            <a:srgbClr val="0C1A22"/>
          </a:solidFill>
          <a:ln xmlns:a="http://schemas.openxmlformats.org/drawingml/2006/main" w="9525">
            <a:solidFill>
              <a:srgbClr val="294662"/>
            </a:solidFill>
            <a:prstDash val="solid"/>
          </a:ln>
        </p:spPr>
      </p:sp>
      <p:sp>
        <p:nvSpPr>
          <p:cNvPr id="5" name="Content-Placeholder-9-6">
            <a:extLst xmlns:a="http://schemas.openxmlformats.org/drawingml/2006/main">
              <a:ext uri="{FF2B5EF4-FFF2-40B4-BE49-F238E27FC236}">
                <a16:creationId xmlns:a16="http://schemas.microsoft.com/office/drawing/2014/main" id="{47ABA7F2-5EA7-466D-9422-155FD8839070}"/>
              </a:ext>
            </a:extLst>
          </p:cNvPr>
          <p:cNvSpPr>
            <a:spLocks xmlns:a="http://schemas.openxmlformats.org/drawingml/2006/main" noGrp="1"/>
          </p:cNvSpPr>
          <p:nvPr/>
        </p:nvSpPr>
        <p:spPr>
          <a:xfrm xmlns:a="http://schemas.openxmlformats.org/drawingml/2006/main">
            <a:off x="4705350" y="4057650"/>
            <a:ext cx="2743200" cy="1371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2000" b="1">
                <a:solidFill>
                  <a:srgbClr val="F3C75D"/>
                </a:solidFill>
                <a:latin typeface="Segoe UI"/>
                <a:ea typeface="Segoe UI"/>
                <a:cs typeface="Segoe UI"/>
              </a:rPr>
              <a:t>MANUAL</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Checkout interrupts autonomous workflows.</a:t>
            </a:r>
          </a:p>
        </p:txBody>
      </p:sp>
      <p:sp>
        <p:nvSpPr>
          <p:cNvPr id="6" name="Content-Placeholder-10-7">
            <a:extLst xmlns:a="http://schemas.openxmlformats.org/drawingml/2006/main">
              <a:ext uri="{FF2B5EF4-FFF2-40B4-BE49-F238E27FC236}">
                <a16:creationId xmlns:a16="http://schemas.microsoft.com/office/drawing/2014/main" id="{77024CB1-DA21-43D4-92A9-E964D3BA1E47}"/>
              </a:ext>
            </a:extLst>
          </p:cNvPr>
          <p:cNvSpPr>
            <a:spLocks xmlns:a="http://schemas.openxmlformats.org/drawingml/2006/main" noGrp="1"/>
          </p:cNvSpPr>
          <p:nvPr/>
        </p:nvSpPr>
        <p:spPr>
          <a:xfrm xmlns:a="http://schemas.openxmlformats.org/drawingml/2006/main">
            <a:off x="8439150" y="4057650"/>
            <a:ext cx="2743200" cy="1371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2000" b="1">
                <a:solidFill>
                  <a:srgbClr val="66B8FF"/>
                </a:solidFill>
                <a:latin typeface="Segoe UI"/>
                <a:ea typeface="Segoe UI"/>
                <a:cs typeface="Segoe UI"/>
              </a:rPr>
              <a:t>OPAQUE</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Spend cannot explain what was bought — or why.</a:t>
            </a:r>
          </a:p>
        </p:txBody>
      </p:sp>
      <p:sp>
        <p:nvSpPr>
          <p:cNvPr id="7" name="Google-Shape-340-p61-8">
            <a:extLst xmlns:a="http://schemas.openxmlformats.org/drawingml/2006/main">
              <a:ext uri="{FF2B5EF4-FFF2-40B4-BE49-F238E27FC236}">
                <a16:creationId xmlns:a16="http://schemas.microsoft.com/office/drawing/2014/main" id="{5D82530C-CD4F-4251-8F0B-72665D3FC8D7}"/>
              </a:ext>
            </a:extLst>
          </p:cNvPr>
          <p:cNvSpPr>
            <a:spLocks xmlns:a="http://schemas.openxmlformats.org/drawingml/2006/main" noGrp="1"/>
          </p:cNvSpPr>
          <p:nvPr/>
        </p:nvSpPr>
        <p:spPr>
          <a:xfrm xmlns:a="http://schemas.openxmlformats.org/drawingml/2006/main">
            <a:off x="4705350" y="3543300"/>
            <a:ext cx="285750" cy="285750"/>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F3C75D"/>
          </a:solidFill>
          <a:ln xmlns:a="http://schemas.openxmlformats.org/drawingml/2006/main" w="0">
            <a:solidFill>
              <a:srgbClr val="000000">
                <a:alpha val="0"/>
              </a:srgbClr>
            </a:solidFill>
            <a:prstDash val="solid"/>
          </a:ln>
        </p:spPr>
      </p:sp>
      <p:sp>
        <p:nvSpPr>
          <p:cNvPr id="8" name="Google-Shape-340-p61-9">
            <a:extLst xmlns:a="http://schemas.openxmlformats.org/drawingml/2006/main">
              <a:ext uri="{FF2B5EF4-FFF2-40B4-BE49-F238E27FC236}">
                <a16:creationId xmlns:a16="http://schemas.microsoft.com/office/drawing/2014/main" id="{AF0E5ADC-4D22-4706-9CE4-72167C55FFD0}"/>
              </a:ext>
            </a:extLst>
          </p:cNvPr>
          <p:cNvSpPr>
            <a:spLocks xmlns:a="http://schemas.openxmlformats.org/drawingml/2006/main" noGrp="1"/>
          </p:cNvSpPr>
          <p:nvPr/>
        </p:nvSpPr>
        <p:spPr>
          <a:xfrm xmlns:a="http://schemas.openxmlformats.org/drawingml/2006/main">
            <a:off x="8439150" y="3543300"/>
            <a:ext cx="285750" cy="285750"/>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66B8FF"/>
          </a:solidFill>
          <a:ln xmlns:a="http://schemas.openxmlformats.org/drawingml/2006/main" w="0">
            <a:solidFill>
              <a:srgbClr val="000000">
                <a:alpha val="0"/>
              </a:srgbClr>
            </a:solidFill>
            <a:prstDash val="solid"/>
          </a:ln>
        </p:spPr>
      </p:sp>
      <p:sp>
        <p:nvSpPr>
          <p:cNvPr id="9" name="Rounded-Rectangle-5-10">
            <a:extLst xmlns:a="http://schemas.openxmlformats.org/drawingml/2006/main">
              <a:ext uri="{FF2B5EF4-FFF2-40B4-BE49-F238E27FC236}">
                <a16:creationId xmlns:a16="http://schemas.microsoft.com/office/drawing/2014/main" id="{5EBDABD4-0F8B-42DF-8802-C12FB787E1F1}"/>
              </a:ext>
            </a:extLst>
          </p:cNvPr>
          <p:cNvSpPr>
            <a:spLocks xmlns:a="http://schemas.openxmlformats.org/drawingml/2006/main" noGrp="1"/>
          </p:cNvSpPr>
          <p:nvPr/>
        </p:nvSpPr>
        <p:spPr>
          <a:xfrm xmlns:a="http://schemas.openxmlformats.org/drawingml/2006/main">
            <a:off x="388334" y="3365468"/>
            <a:ext cx="3568732" cy="2628900"/>
          </a:xfrm>
          <a:prstGeom xmlns:a="http://schemas.openxmlformats.org/drawingml/2006/main" prst="roundRect">
            <a:avLst>
              <a:gd name="adj" fmla="val 7971"/>
            </a:avLst>
          </a:prstGeom>
          <a:solidFill xmlns:a="http://schemas.openxmlformats.org/drawingml/2006/main">
            <a:srgbClr val="0C1A22"/>
          </a:solidFill>
          <a:ln xmlns:a="http://schemas.openxmlformats.org/drawingml/2006/main" w="9525">
            <a:solidFill>
              <a:srgbClr val="2D4B51"/>
            </a:solidFill>
            <a:prstDash val="solid"/>
          </a:ln>
        </p:spPr>
      </p:sp>
      <p:sp>
        <p:nvSpPr>
          <p:cNvPr id="10" name="Content-Placeholder-9-11">
            <a:extLst xmlns:a="http://schemas.openxmlformats.org/drawingml/2006/main">
              <a:ext uri="{FF2B5EF4-FFF2-40B4-BE49-F238E27FC236}">
                <a16:creationId xmlns:a16="http://schemas.microsoft.com/office/drawing/2014/main" id="{AFFF3DC8-B831-471F-B5F6-863C49C8682D}"/>
              </a:ext>
            </a:extLst>
          </p:cNvPr>
          <p:cNvSpPr>
            <a:spLocks xmlns:a="http://schemas.openxmlformats.org/drawingml/2006/main" noGrp="1"/>
          </p:cNvSpPr>
          <p:nvPr/>
        </p:nvSpPr>
        <p:spPr>
          <a:xfrm xmlns:a="http://schemas.openxmlformats.org/drawingml/2006/main">
            <a:off x="971550" y="4057650"/>
            <a:ext cx="2743200" cy="1371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2000" b="1">
                <a:solidFill>
                  <a:srgbClr val="67E8D3"/>
                </a:solidFill>
                <a:latin typeface="Segoe UI"/>
                <a:ea typeface="Segoe UI"/>
                <a:cs typeface="Segoe UI"/>
              </a:rPr>
              <a:t>COARSE</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Subscriptions bundle access when agents need per-use pricing.</a:t>
            </a:r>
          </a:p>
        </p:txBody>
      </p:sp>
      <p:sp>
        <p:nvSpPr>
          <p:cNvPr id="11" name="Google-Shape-340-p61-12">
            <a:extLst xmlns:a="http://schemas.openxmlformats.org/drawingml/2006/main">
              <a:ext uri="{FF2B5EF4-FFF2-40B4-BE49-F238E27FC236}">
                <a16:creationId xmlns:a16="http://schemas.microsoft.com/office/drawing/2014/main" id="{4A615080-F655-4E17-A080-B0A8FCF8F890}"/>
              </a:ext>
            </a:extLst>
          </p:cNvPr>
          <p:cNvSpPr>
            <a:spLocks xmlns:a="http://schemas.openxmlformats.org/drawingml/2006/main" noGrp="1"/>
          </p:cNvSpPr>
          <p:nvPr/>
        </p:nvSpPr>
        <p:spPr>
          <a:xfrm xmlns:a="http://schemas.openxmlformats.org/drawingml/2006/main">
            <a:off x="971550" y="3543300"/>
            <a:ext cx="285750" cy="285750"/>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67E8D3"/>
          </a:solidFill>
          <a:ln xmlns:a="http://schemas.openxmlformats.org/drawingml/2006/main" w="0">
            <a:solidFill>
              <a:srgbClr val="000000">
                <a:alpha val="0"/>
              </a:srgbClr>
            </a:solidFill>
            <a:prstDash val="solid"/>
          </a:ln>
        </p:spPr>
      </p:sp>
      <p:sp>
        <p:nvSpPr>
          <p:cNvPr id="12" name="Content-Placeholder-15-13">
            <a:extLst xmlns:a="http://schemas.openxmlformats.org/drawingml/2006/main">
              <a:ext uri="{FF2B5EF4-FFF2-40B4-BE49-F238E27FC236}">
                <a16:creationId xmlns:a16="http://schemas.microsoft.com/office/drawing/2014/main" id="{CEFBCDE1-EEEA-430D-B620-2B47666631F4}"/>
              </a:ext>
            </a:extLst>
          </p:cNvPr>
          <p:cNvSpPr>
            <a:spLocks xmlns:a="http://schemas.openxmlformats.org/drawingml/2006/main" noGrp="1"/>
          </p:cNvSpPr>
          <p:nvPr/>
        </p:nvSpPr>
        <p:spPr>
          <a:xfrm xmlns:a="http://schemas.openxmlformats.org/drawingml/2006/main">
            <a:off x="685800" y="2038350"/>
            <a:ext cx="105727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800" b="0">
                <a:solidFill>
                  <a:srgbClr val="9FB3B7"/>
                </a:solidFill>
                <a:latin typeface="Segoe UI"/>
                <a:ea typeface="Segoe UI"/>
                <a:cs typeface="Segoe UI"/>
              </a:defRPr>
            </a:pPr>
            <a:r>
              <a:rPr sz="1800" b="0">
                <a:solidFill>
                  <a:srgbClr val="9FB3B7"/>
                </a:solidFill>
                <a:latin typeface="Segoe UI"/>
                <a:ea typeface="Segoe UI"/>
                <a:cs typeface="Segoe UI"/>
              </a:rPr>
              <a:t>Agents need per-use pricing that does not interrupt autonomy — and spend records humans can audit.</a:t>
            </a:r>
          </a:p>
        </p:txBody>
      </p:sp>
      <p:sp>
        <p:nvSpPr>
          <p:cNvPr id="13" name="obol-accent-rule">
            <a:extLst xmlns:a="http://schemas.openxmlformats.org/drawingml/2006/main">
              <a:ext uri="{FF2B5EF4-FFF2-40B4-BE49-F238E27FC236}">
                <a16:creationId xmlns:a16="http://schemas.microsoft.com/office/drawing/2014/main" id="{A93EC76A-CEC9-42BF-9636-0C8FA7A00267}"/>
              </a:ext>
            </a:extLst>
          </p:cNvPr>
          <p:cNvSpPr>
            <a:spLocks xmlns:a="http://schemas.openxmlformats.org/drawingml/2006/main" noGrp="1"/>
          </p:cNvSpPr>
          <p:nvPr/>
        </p:nvSpPr>
        <p:spPr>
          <a:xfrm xmlns:a="http://schemas.openxmlformats.org/drawingml/2006/main">
            <a:off x="685800" y="1847850"/>
            <a:ext cx="990600" cy="38100"/>
          </a:xfrm>
          <a:prstGeom xmlns:a="http://schemas.openxmlformats.org/drawingml/2006/main" prst="rect">
            <a:avLst/>
          </a:prstGeom>
          <a:solidFill xmlns:a="http://schemas.openxmlformats.org/drawingml/2006/main">
            <a:srgbClr val="67E8D3"/>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1402413927"/>
      </p:ext>
    </p:extLst>
  </p:cSld>
</p:sld>
</file>

<file path=ppt/slides/slide3.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7" name="Google-Shape-532-p58-2">
            <a:extLst xmlns:a="http://schemas.openxmlformats.org/drawingml/2006/main">
              <a:ext uri="{FF2B5EF4-FFF2-40B4-BE49-F238E27FC236}">
                <a16:creationId xmlns:a16="http://schemas.microsoft.com/office/drawing/2014/main" id="{C9B9027A-5565-4380-B3E3-4D7E90583903}"/>
              </a:ext>
            </a:extLst>
          </p:cNvPr>
          <p:cNvSpPr>
            <a:spLocks xmlns:a="http://schemas.openxmlformats.org/drawingml/2006/main" noGrp="1"/>
          </p:cNvSpPr>
          <p:nvPr/>
        </p:nvSpPr>
        <p:spPr>
          <a:xfrm xmlns:a="http://schemas.openxmlformats.org/drawingml/2006/main">
            <a:off x="11049000" y="419100"/>
            <a:ext cx="52387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100000"/>
              </a:lnSpc>
              <a:buNone/>
              <a:defRPr sz="1350" b="1">
                <a:solidFill>
                  <a:srgbClr val="60777D"/>
                </a:solidFill>
                <a:latin typeface="Segoe UI"/>
                <a:ea typeface="Segoe UI"/>
                <a:cs typeface="Segoe UI"/>
              </a:defRPr>
            </a:pPr>
            <a:r>
              <a:rPr sz="1350" b="1">
                <a:solidFill>
                  <a:srgbClr val="60777D"/>
                </a:solidFill>
                <a:latin typeface="Segoe UI"/>
                <a:ea typeface="Segoe UI"/>
                <a:cs typeface="Segoe UI"/>
              </a:rPr>
              <a:t>03</a:t>
            </a:r>
          </a:p>
        </p:txBody>
      </p:sp>
      <p:sp>
        <p:nvSpPr>
          <p:cNvPr id="2" name="Google-Shape-533-p58-3">
            <a:extLst xmlns:a="http://schemas.openxmlformats.org/drawingml/2006/main">
              <a:ext uri="{FF2B5EF4-FFF2-40B4-BE49-F238E27FC236}">
                <a16:creationId xmlns:a16="http://schemas.microsoft.com/office/drawing/2014/main" id="{AE76D704-EBC5-4B2E-8907-2242818AF8BA}"/>
              </a:ext>
            </a:extLst>
          </p:cNvPr>
          <p:cNvSpPr>
            <a:spLocks xmlns:a="http://schemas.openxmlformats.org/drawingml/2006/main" noGrp="1"/>
          </p:cNvSpPr>
          <p:nvPr/>
        </p:nvSpPr>
        <p:spPr>
          <a:xfrm xmlns:a="http://schemas.openxmlformats.org/drawingml/2006/main">
            <a:off x="685800" y="590550"/>
            <a:ext cx="5143500" cy="1200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6000"/>
              </a:lnSpc>
              <a:buNone/>
              <a:defRPr sz="3600" b="1">
                <a:solidFill>
                  <a:srgbClr val="F4F7F5"/>
                </a:solidFill>
                <a:latin typeface="Segoe UI"/>
                <a:ea typeface="Segoe UI"/>
                <a:cs typeface="Segoe UI"/>
              </a:defRPr>
            </a:pPr>
            <a:r>
              <a:rPr sz="3600" b="1">
                <a:solidFill>
                  <a:srgbClr val="F4F7F5"/>
                </a:solidFill>
                <a:latin typeface="Segoe UI"/>
                <a:ea typeface="Segoe UI"/>
                <a:cs typeface="Segoe UI"/>
              </a:rPr>
              <a:t>One query. One budget.</a:t>
            </a:r>
          </a:p>
          <a:p xmlns:a="http://schemas.openxmlformats.org/drawingml/2006/main">
            <a:pPr algn="l">
              <a:lnSpc>
                <a:spcPct val="96000"/>
              </a:lnSpc>
              <a:buNone/>
              <a:defRPr sz="3600" b="1">
                <a:solidFill>
                  <a:srgbClr val="F4F7F5"/>
                </a:solidFill>
                <a:latin typeface="Segoe UI"/>
                <a:ea typeface="Segoe UI"/>
                <a:cs typeface="Segoe UI"/>
              </a:defRPr>
            </a:pPr>
            <a:r>
              <a:rPr sz="3600" b="1">
                <a:solidFill>
                  <a:srgbClr val="F4F7F5"/>
                </a:solidFill>
                <a:latin typeface="Segoe UI"/>
                <a:ea typeface="Segoe UI"/>
                <a:cs typeface="Segoe UI"/>
              </a:rPr>
              <a:t>Four accountable actions.</a:t>
            </a:r>
          </a:p>
        </p:txBody>
      </p:sp>
      <p:sp>
        <p:nvSpPr>
          <p:cNvPr id="3" name="Picture-3-4-backing">
            <a:extLst xmlns:a="http://schemas.openxmlformats.org/drawingml/2006/main">
              <a:ext uri="{FF2B5EF4-FFF2-40B4-BE49-F238E27FC236}">
                <a16:creationId xmlns:a16="http://schemas.microsoft.com/office/drawing/2014/main" id="{083CEA1F-7147-41DD-9A44-8466E674A69B}"/>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4814"/>
            </a:avLst>
          </a:prstGeom>
          <a:solidFill xmlns:a="http://schemas.openxmlformats.org/drawingml/2006/main">
            <a:srgbClr val="0C1A22"/>
          </a:solidFill>
          <a:ln xmlns:a="http://schemas.openxmlformats.org/drawingml/2006/main" w="9525">
            <a:solidFill>
              <a:srgbClr val="21464A"/>
            </a:solidFill>
            <a:prstDash val="solid"/>
          </a:ln>
        </p:spPr>
        <p:style>
          <a:lnRef xmlns:a="http://schemas.openxmlformats.org/drawingml/2006/main" idx="0"/>
          <a:fillRef xmlns:a="http://schemas.openxmlformats.org/drawingml/2006/main" idx="0"/>
          <a:effectRef xmlns:a="http://schemas.openxmlformats.org/drawingml/2006/main" idx="11"/>
          <a:fontRef xmlns:a="http://schemas.openxmlformats.org/drawingml/2006/main" idx="major"/>
        </p:style>
      </p:sp>
      <p:pic>
        <p:nvPicPr>
          <p:cNvPr id="12" name="Picture-3-4"/>
          <p:cNvPicPr>
            <a:picLocks xmlns:a="http://schemas.openxmlformats.org/drawingml/2006/main" noChangeAspect="1"/>
          </p:cNvPicPr>
          <p:nvPr/>
        </p:nvPicPr>
        <p:blipFill>
          <a:blip xmlns:r="http://schemas.openxmlformats.org/officeDocument/2006/relationships" xmlns:a="http://schemas.openxmlformats.org/drawingml/2006/main" r:embed="Rbbeeb820de9c4450"/>
          <a:srcRect xmlns:a="http://schemas.openxmlformats.org/drawingml/2006/main" l="0" t="0" r="0" b="0"/>
          <a:stretch xmlns:a="http://schemas.openxmlformats.org/drawingml/2006/main">
            <a:fillRect l="0" t="0" r="0" b="0"/>
          </a:stretch>
        </p:blipFill>
        <p:spPr>
          <a:xfrm xmlns:a="http://schemas.openxmlformats.org/drawingml/2006/main" flipH="0" flipV="0">
            <a:off x="6419850" y="914400"/>
            <a:ext cx="4857750" cy="4838700"/>
          </a:xfrm>
          <a:prstGeom xmlns:a="http://schemas.openxmlformats.org/drawingml/2006/main" prst="roundRect">
            <a:avLst>
              <a:gd name="adj" fmla="val 3937"/>
            </a:avLst>
          </a:prstGeom>
        </p:spPr>
      </p:pic>
      <p:sp>
        <p:nvSpPr>
          <p:cNvPr id="5" name="Google-Shape-534-p58-5">
            <a:extLst xmlns:a="http://schemas.openxmlformats.org/drawingml/2006/main">
              <a:ext uri="{FF2B5EF4-FFF2-40B4-BE49-F238E27FC236}">
                <a16:creationId xmlns:a16="http://schemas.microsoft.com/office/drawing/2014/main" id="{D68BD3C1-5C40-4399-B32E-F561081DD62B}"/>
              </a:ext>
            </a:extLst>
          </p:cNvPr>
          <p:cNvSpPr>
            <a:spLocks xmlns:a="http://schemas.openxmlformats.org/drawingml/2006/main" noGrp="1"/>
          </p:cNvSpPr>
          <p:nvPr/>
        </p:nvSpPr>
        <p:spPr>
          <a:xfrm xmlns:a="http://schemas.openxmlformats.org/drawingml/2006/main">
            <a:off x="704850" y="2305050"/>
            <a:ext cx="4953000" cy="2705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67E8D3"/>
                </a:solidFill>
                <a:latin typeface="Segoe UI"/>
                <a:ea typeface="Segoe UI"/>
                <a:cs typeface="Segoe UI"/>
              </a:rPr>
              <a:t>BUY</a:t>
            </a:r>
            <a:r>
              <a:rPr sz="1800">
                <a:solidFill>
                  <a:srgbClr val="F4F7F5"/>
                </a:solidFill>
                <a:latin typeface="Segoe UI"/>
                <a:ea typeface="Segoe UI"/>
                <a:cs typeface="Segoe UI"/>
              </a:rPr>
              <a:t>  useful evidence within policy.</a:t>
            </a:r>
          </a:p>
          <a:p xmlns:a="http://schemas.openxmlformats.org/drawingml/2006/main">
            <a:pPr algn="l">
              <a:defRPr sz="1800">
                <a:solidFill>
                  <a:srgbClr val="F4F7F5"/>
                </a:solidFill>
                <a:latin typeface="Segoe UI"/>
                <a:ea typeface="Segoe UI"/>
                <a:cs typeface="Segoe UI"/>
              </a:defRPr>
            </a:pPr>
            <a:r>
              <a:rPr sz="1800" b="1">
                <a:solidFill>
                  <a:srgbClr val="F3C75D"/>
                </a:solidFill>
                <a:latin typeface="Segoe UI"/>
                <a:ea typeface="Segoe UI"/>
                <a:cs typeface="Segoe UI"/>
              </a:rPr>
              <a:t>REUSE</a:t>
            </a:r>
            <a:r>
              <a:rPr sz="1800">
                <a:solidFill>
                  <a:srgbClr val="F4F7F5"/>
                </a:solidFill>
                <a:latin typeface="Segoe UI"/>
                <a:ea typeface="Segoe UI"/>
                <a:cs typeface="Segoe UI"/>
              </a:rPr>
              <a:t>  prior access.  </a:t>
            </a:r>
            <a:r>
              <a:rPr sz="1800" b="1">
                <a:solidFill>
                  <a:srgbClr val="F3C75D"/>
                </a:solidFill>
                <a:latin typeface="Segoe UI"/>
                <a:ea typeface="Segoe UI"/>
                <a:cs typeface="Segoe UI"/>
              </a:rPr>
              <a:t>SKIP</a:t>
            </a:r>
            <a:r>
              <a:rPr sz="1800">
                <a:solidFill>
                  <a:srgbClr val="F4F7F5"/>
                </a:solidFill>
                <a:latin typeface="Segoe UI"/>
                <a:ea typeface="Segoe UI"/>
                <a:cs typeface="Segoe UI"/>
              </a:rPr>
              <a:t>  weak or redundant sources.</a:t>
            </a:r>
          </a:p>
          <a:p xmlns:a="http://schemas.openxmlformats.org/drawingml/2006/main">
            <a:pPr algn="l">
              <a:defRPr sz="1800">
                <a:solidFill>
                  <a:srgbClr val="F4F7F5"/>
                </a:solidFill>
                <a:latin typeface="Segoe UI"/>
                <a:ea typeface="Segoe UI"/>
                <a:cs typeface="Segoe UI"/>
              </a:defRPr>
            </a:pPr>
            <a:r>
              <a:rPr sz="1800" b="1">
                <a:solidFill>
                  <a:srgbClr val="66B8FF"/>
                </a:solidFill>
                <a:latin typeface="Segoe UI"/>
                <a:ea typeface="Segoe UI"/>
                <a:cs typeface="Segoe UI"/>
              </a:rPr>
              <a:t>STOP</a:t>
            </a:r>
            <a:r>
              <a:rPr sz="1800">
                <a:solidFill>
                  <a:srgbClr val="F4F7F5"/>
                </a:solidFill>
                <a:latin typeface="Segoe UI"/>
                <a:ea typeface="Segoe UI"/>
                <a:cs typeface="Segoe UI"/>
              </a:rPr>
              <a:t>  when coverage is sufficient — or a spending guard fires.</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Answers use only purchased or previously authorized content.</a:t>
            </a:r>
          </a:p>
        </p:txBody>
      </p:sp>
      <p:sp>
        <p:nvSpPr>
          <p:cNvPr id="6" name="settlement-mode-label">
            <a:extLst xmlns:a="http://schemas.openxmlformats.org/drawingml/2006/main">
              <a:ext uri="{FF2B5EF4-FFF2-40B4-BE49-F238E27FC236}">
                <a16:creationId xmlns:a16="http://schemas.microsoft.com/office/drawing/2014/main" id="{62F736D4-9ACF-4CC7-BD94-2EA1F30C6AA7}"/>
              </a:ext>
            </a:extLst>
          </p:cNvPr>
          <p:cNvSpPr>
            <a:spLocks xmlns:a="http://schemas.openxmlformats.org/drawingml/2006/main" noGrp="1"/>
          </p:cNvSpPr>
          <p:nvPr/>
        </p:nvSpPr>
        <p:spPr>
          <a:xfrm xmlns:a="http://schemas.openxmlformats.org/drawingml/2006/main">
            <a:off x="704850" y="5276850"/>
            <a:ext cx="4953000" cy="400050"/>
          </a:xfrm>
          <a:prstGeom xmlns:a="http://schemas.openxmlformats.org/drawingml/2006/main" prst="roundRect">
            <a:avLst>
              <a:gd name="adj" fmla="val 42857"/>
            </a:avLst>
          </a:prstGeom>
          <a:solidFill xmlns:a="http://schemas.openxmlformats.org/drawingml/2006/main">
            <a:srgbClr val="0C1A22"/>
          </a:solidFill>
          <a:ln xmlns:a="http://schemas.openxmlformats.org/drawingml/2006/main" w="9525">
            <a:solidFill>
              <a:srgbClr val="F3C75D"/>
            </a:solidFill>
            <a:prstDash val="solid"/>
          </a:ln>
        </p:spPr>
        <p:txBody>
          <a:bodyPr xmlns:a="http://schemas.openxmlformats.org/drawingml/2006/main" wrap="square" lIns="114300" tIns="38100" rIns="114300" bIns="38100" anchor="ctr">
            <a:noAutofit/>
          </a:bodyPr>
          <a:lstStyle xmlns:a="http://schemas.openxmlformats.org/drawingml/2006/main"/>
          <a:p xmlns:a="http://schemas.openxmlformats.org/drawingml/2006/main">
            <a:pPr algn="ctr">
              <a:lnSpc>
                <a:spcPct val="100000"/>
              </a:lnSpc>
              <a:buNone/>
              <a:defRPr sz="1200" b="1">
                <a:solidFill>
                  <a:srgbClr val="F3C75D"/>
                </a:solidFill>
                <a:latin typeface="Segoe UI"/>
                <a:ea typeface="Segoe UI"/>
                <a:cs typeface="Segoe UI"/>
              </a:defRPr>
            </a:pPr>
            <a:r>
              <a:rPr sz="1200" b="1">
                <a:solidFill>
                  <a:srgbClr val="F3C75D"/>
                </a:solidFill>
                <a:latin typeface="Segoe UI"/>
                <a:ea typeface="Segoe UI"/>
                <a:cs typeface="Segoe UI"/>
              </a:rPr>
              <a:t>PUBLIC JUDGE DEMO  ·  FORCED MOCK</a:t>
            </a:r>
          </a:p>
        </p:txBody>
      </p:sp>
    </p:spTree>
    <p:extLst>
      <p:ext uri="{BB962C8B-B14F-4D97-AF65-F5344CB8AC3E}">
        <p14:creationId xmlns:p14="http://schemas.microsoft.com/office/powerpoint/2010/main" val="1884274892"/>
      </p:ext>
    </p:extLst>
  </p:cSld>
</p:sld>
</file>

<file path=ppt/slides/slide4.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14" name="Slide-Number-Placeholder-3-2">
            <a:extLst xmlns:a="http://schemas.openxmlformats.org/drawingml/2006/main">
              <a:ext uri="{FF2B5EF4-FFF2-40B4-BE49-F238E27FC236}">
                <a16:creationId xmlns:a16="http://schemas.microsoft.com/office/drawing/2014/main" id="{2F531978-375B-4DB4-9D6F-C21EAA2FCC72}"/>
              </a:ext>
            </a:extLst>
          </p:cNvPr>
          <p:cNvSpPr>
            <a:spLocks xmlns:a="http://schemas.openxmlformats.org/drawingml/2006/main" noGrp="1"/>
          </p:cNvSpPr>
          <p:nvPr/>
        </p:nvSpPr>
        <p:spPr>
          <a:xfrm xmlns:a="http://schemas.openxmlformats.org/drawingml/2006/main">
            <a:off x="11049000" y="419100"/>
            <a:ext cx="52387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100000"/>
              </a:lnSpc>
              <a:buNone/>
              <a:defRPr sz="1350" b="1">
                <a:solidFill>
                  <a:srgbClr val="60777D"/>
                </a:solidFill>
                <a:latin typeface="Segoe UI"/>
                <a:ea typeface="Segoe UI"/>
                <a:cs typeface="Segoe UI"/>
              </a:defRPr>
            </a:pPr>
            <a:r>
              <a:rPr sz="1350" b="1">
                <a:solidFill>
                  <a:srgbClr val="60777D"/>
                </a:solidFill>
                <a:latin typeface="Segoe UI"/>
                <a:ea typeface="Segoe UI"/>
                <a:cs typeface="Segoe UI"/>
              </a:rPr>
              <a:t>04</a:t>
            </a:r>
          </a:p>
        </p:txBody>
      </p:sp>
      <p:sp>
        <p:nvSpPr>
          <p:cNvPr id="2" name="Title-10-3">
            <a:extLst xmlns:a="http://schemas.openxmlformats.org/drawingml/2006/main">
              <a:ext uri="{FF2B5EF4-FFF2-40B4-BE49-F238E27FC236}">
                <a16:creationId xmlns:a16="http://schemas.microsoft.com/office/drawing/2014/main" id="{DF2350BB-E05A-4068-A97B-F545FFD6B241}"/>
              </a:ext>
            </a:extLst>
          </p:cNvPr>
          <p:cNvSpPr>
            <a:spLocks xmlns:a="http://schemas.openxmlformats.org/drawingml/2006/main" noGrp="1"/>
          </p:cNvSpPr>
          <p:nvPr/>
        </p:nvSpPr>
        <p:spPr>
          <a:xfrm xmlns:a="http://schemas.openxmlformats.org/drawingml/2006/main">
            <a:off x="685800" y="590550"/>
            <a:ext cx="9525000" cy="1181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3750" b="1">
                <a:solidFill>
                  <a:srgbClr val="F4F7F5"/>
                </a:solidFill>
                <a:latin typeface="Segoe UI"/>
                <a:ea typeface="Segoe UI"/>
                <a:cs typeface="Segoe UI"/>
              </a:defRPr>
            </a:pPr>
            <a:r>
              <a:rPr sz="3750" b="1">
                <a:solidFill>
                  <a:srgbClr val="F4F7F5"/>
                </a:solidFill>
                <a:latin typeface="Segoe UI"/>
                <a:ea typeface="Segoe UI"/>
                <a:cs typeface="Segoe UI"/>
              </a:rPr>
              <a:t>Money is part of</a:t>
            </a:r>
          </a:p>
          <a:p xmlns:a="http://schemas.openxmlformats.org/drawingml/2006/main">
            <a:pPr algn="l">
              <a:lnSpc>
                <a:spcPct val="94000"/>
              </a:lnSpc>
              <a:buNone/>
              <a:defRPr sz="3750" b="1">
                <a:solidFill>
                  <a:srgbClr val="F4F7F5"/>
                </a:solidFill>
                <a:latin typeface="Segoe UI"/>
                <a:ea typeface="Segoe UI"/>
                <a:cs typeface="Segoe UI"/>
              </a:defRPr>
            </a:pPr>
            <a:r>
              <a:rPr sz="3750" b="1">
                <a:solidFill>
                  <a:srgbClr val="F4F7F5"/>
                </a:solidFill>
                <a:latin typeface="Segoe UI"/>
                <a:ea typeface="Segoe UI"/>
                <a:cs typeface="Segoe UI"/>
              </a:rPr>
              <a:t>the reasoning loop.</a:t>
            </a:r>
          </a:p>
        </p:txBody>
      </p:sp>
      <p:cxnSp>
        <p:nvCxnSpPr>
          <p:cNvPr id="31" name="Google-Shape-2259-p159-4"/>
          <p:cNvCxnSpPr/>
          <p:nvPr/>
        </p:nvCxnSpPr>
        <p:spPr>
          <a:xfrm xmlns:a="http://schemas.openxmlformats.org/drawingml/2006/main">
            <a:off x="1066800" y="3086100"/>
            <a:ext cx="9639300" cy="19050"/>
          </a:xfrm>
          <a:prstGeom xmlns:a="http://schemas.openxmlformats.org/drawingml/2006/main" prst="straightConnector1">
            <a:avLst/>
          </a:prstGeom>
          <a:ln xmlns:a="http://schemas.openxmlformats.org/drawingml/2006/main" w="19050">
            <a:solidFill>
              <a:srgbClr val="20353C"/>
            </a:solidFill>
            <a:prstDash val="solid"/>
          </a:ln>
        </p:spPr>
      </p:cxnSp>
      <p:sp>
        <p:nvSpPr>
          <p:cNvPr id="4" name="Google-Shape-2260-p159-5">
            <a:extLst xmlns:a="http://schemas.openxmlformats.org/drawingml/2006/main">
              <a:ext uri="{FF2B5EF4-FFF2-40B4-BE49-F238E27FC236}">
                <a16:creationId xmlns:a16="http://schemas.microsoft.com/office/drawing/2014/main" id="{0110EA72-008C-42E5-9F69-7AB8E57C7E52}"/>
              </a:ext>
            </a:extLst>
          </p:cNvPr>
          <p:cNvSpPr>
            <a:spLocks xmlns:a="http://schemas.openxmlformats.org/drawingml/2006/main" noGrp="1"/>
          </p:cNvSpPr>
          <p:nvPr/>
        </p:nvSpPr>
        <p:spPr>
          <a:xfrm xmlns:a="http://schemas.openxmlformats.org/drawingml/2006/main">
            <a:off x="971550" y="2981325"/>
            <a:ext cx="228600" cy="228600"/>
          </a:xfrm>
          <a:prstGeom xmlns:a="http://schemas.openxmlformats.org/drawingml/2006/main" prst="ellipse">
            <a:avLst/>
          </a:prstGeom>
          <a:solidFill xmlns:a="http://schemas.openxmlformats.org/drawingml/2006/main">
            <a:srgbClr val="67E8D3"/>
          </a:solidFill>
          <a:ln xmlns:a="http://schemas.openxmlformats.org/drawingml/2006/main" w="0">
            <a:solidFill>
              <a:srgbClr val="000000">
                <a:alpha val="0"/>
              </a:srgbClr>
            </a:solidFill>
            <a:prstDash val="solid"/>
          </a:ln>
        </p:spPr>
      </p:sp>
      <p:sp>
        <p:nvSpPr>
          <p:cNvPr id="5" name="Google-Shape-2261-p159-6">
            <a:extLst xmlns:a="http://schemas.openxmlformats.org/drawingml/2006/main">
              <a:ext uri="{FF2B5EF4-FFF2-40B4-BE49-F238E27FC236}">
                <a16:creationId xmlns:a16="http://schemas.microsoft.com/office/drawing/2014/main" id="{F2FCDC4F-C4DA-45E5-B5DE-074FAE0B62B0}"/>
              </a:ext>
            </a:extLst>
          </p:cNvPr>
          <p:cNvSpPr>
            <a:spLocks xmlns:a="http://schemas.openxmlformats.org/drawingml/2006/main" noGrp="1"/>
          </p:cNvSpPr>
          <p:nvPr/>
        </p:nvSpPr>
        <p:spPr>
          <a:xfrm xmlns:a="http://schemas.openxmlformats.org/drawingml/2006/main">
            <a:off x="4743450" y="2981325"/>
            <a:ext cx="228600" cy="228600"/>
          </a:xfrm>
          <a:prstGeom xmlns:a="http://schemas.openxmlformats.org/drawingml/2006/main" prst="ellipse">
            <a:avLst/>
          </a:prstGeom>
          <a:solidFill xmlns:a="http://schemas.openxmlformats.org/drawingml/2006/main">
            <a:srgbClr val="F3C75D"/>
          </a:solidFill>
          <a:ln xmlns:a="http://schemas.openxmlformats.org/drawingml/2006/main" w="0">
            <a:solidFill>
              <a:srgbClr val="000000">
                <a:alpha val="0"/>
              </a:srgbClr>
            </a:solidFill>
            <a:prstDash val="solid"/>
          </a:ln>
        </p:spPr>
      </p:sp>
      <p:sp>
        <p:nvSpPr>
          <p:cNvPr id="6" name="Google-Shape-2262-p159-7">
            <a:extLst xmlns:a="http://schemas.openxmlformats.org/drawingml/2006/main">
              <a:ext uri="{FF2B5EF4-FFF2-40B4-BE49-F238E27FC236}">
                <a16:creationId xmlns:a16="http://schemas.microsoft.com/office/drawing/2014/main" id="{FB385C47-E4AB-4E0C-AD8E-24A00C211BB6}"/>
              </a:ext>
            </a:extLst>
          </p:cNvPr>
          <p:cNvSpPr>
            <a:spLocks xmlns:a="http://schemas.openxmlformats.org/drawingml/2006/main" noGrp="1"/>
          </p:cNvSpPr>
          <p:nvPr/>
        </p:nvSpPr>
        <p:spPr>
          <a:xfrm xmlns:a="http://schemas.openxmlformats.org/drawingml/2006/main">
            <a:off x="8553450" y="2981325"/>
            <a:ext cx="228600" cy="228600"/>
          </a:xfrm>
          <a:prstGeom xmlns:a="http://schemas.openxmlformats.org/drawingml/2006/main" prst="ellipse">
            <a:avLst/>
          </a:prstGeom>
          <a:solidFill xmlns:a="http://schemas.openxmlformats.org/drawingml/2006/main">
            <a:srgbClr val="66B8FF"/>
          </a:solidFill>
          <a:ln xmlns:a="http://schemas.openxmlformats.org/drawingml/2006/main" w="0">
            <a:solidFill>
              <a:srgbClr val="000000">
                <a:alpha val="0"/>
              </a:srgbClr>
            </a:solidFill>
            <a:prstDash val="solid"/>
          </a:ln>
        </p:spPr>
      </p:sp>
      <p:sp>
        <p:nvSpPr>
          <p:cNvPr id="7" name="Content-Placeholder-15-8">
            <a:extLst xmlns:a="http://schemas.openxmlformats.org/drawingml/2006/main">
              <a:ext uri="{FF2B5EF4-FFF2-40B4-BE49-F238E27FC236}">
                <a16:creationId xmlns:a16="http://schemas.microsoft.com/office/drawing/2014/main" id="{7617F3F0-430D-43CE-9E02-D333111588C5}"/>
              </a:ext>
            </a:extLst>
          </p:cNvPr>
          <p:cNvSpPr>
            <a:spLocks xmlns:a="http://schemas.openxmlformats.org/drawingml/2006/main" noGrp="1"/>
          </p:cNvSpPr>
          <p:nvPr/>
        </p:nvSpPr>
        <p:spPr>
          <a:xfrm xmlns:a="http://schemas.openxmlformats.org/drawingml/2006/main">
            <a:off x="685800" y="2381250"/>
            <a:ext cx="2476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67E8D3"/>
                </a:solidFill>
                <a:latin typeface="Segoe UI"/>
                <a:ea typeface="Segoe UI"/>
                <a:cs typeface="Segoe UI"/>
              </a:defRPr>
            </a:pPr>
            <a:r>
              <a:rPr sz="1650" b="1">
                <a:solidFill>
                  <a:srgbClr val="67E8D3"/>
                </a:solidFill>
                <a:latin typeface="Segoe UI"/>
                <a:ea typeface="Segoe UI"/>
                <a:cs typeface="Segoe UI"/>
              </a:rPr>
              <a:t>01  ·  SCORE</a:t>
            </a:r>
          </a:p>
        </p:txBody>
      </p:sp>
      <p:sp>
        <p:nvSpPr>
          <p:cNvPr id="8" name="Content-Placeholder-15-9">
            <a:extLst xmlns:a="http://schemas.openxmlformats.org/drawingml/2006/main">
              <a:ext uri="{FF2B5EF4-FFF2-40B4-BE49-F238E27FC236}">
                <a16:creationId xmlns:a16="http://schemas.microsoft.com/office/drawing/2014/main" id="{82EDB68D-3C73-43B3-B54A-33D537312F6E}"/>
              </a:ext>
            </a:extLst>
          </p:cNvPr>
          <p:cNvSpPr>
            <a:spLocks xmlns:a="http://schemas.openxmlformats.org/drawingml/2006/main" noGrp="1"/>
          </p:cNvSpPr>
          <p:nvPr/>
        </p:nvSpPr>
        <p:spPr>
          <a:xfrm xmlns:a="http://schemas.openxmlformats.org/drawingml/2006/main">
            <a:off x="4457700" y="2381250"/>
            <a:ext cx="2476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F3C75D"/>
                </a:solidFill>
                <a:latin typeface="Segoe UI"/>
                <a:ea typeface="Segoe UI"/>
                <a:cs typeface="Segoe UI"/>
              </a:defRPr>
            </a:pPr>
            <a:r>
              <a:rPr sz="1650" b="1">
                <a:solidFill>
                  <a:srgbClr val="F3C75D"/>
                </a:solidFill>
                <a:latin typeface="Segoe UI"/>
                <a:ea typeface="Segoe UI"/>
                <a:cs typeface="Segoe UI"/>
              </a:rPr>
              <a:t>02  ·  GUARD</a:t>
            </a:r>
          </a:p>
        </p:txBody>
      </p:sp>
      <p:sp>
        <p:nvSpPr>
          <p:cNvPr id="9" name="Content-Placeholder-15-10">
            <a:extLst xmlns:a="http://schemas.openxmlformats.org/drawingml/2006/main">
              <a:ext uri="{FF2B5EF4-FFF2-40B4-BE49-F238E27FC236}">
                <a16:creationId xmlns:a16="http://schemas.microsoft.com/office/drawing/2014/main" id="{C11E5688-2536-4664-A75C-5F1F8ABFC068}"/>
              </a:ext>
            </a:extLst>
          </p:cNvPr>
          <p:cNvSpPr>
            <a:spLocks xmlns:a="http://schemas.openxmlformats.org/drawingml/2006/main" noGrp="1"/>
          </p:cNvSpPr>
          <p:nvPr/>
        </p:nvSpPr>
        <p:spPr>
          <a:xfrm xmlns:a="http://schemas.openxmlformats.org/drawingml/2006/main">
            <a:off x="8267700" y="2381250"/>
            <a:ext cx="3143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66B8FF"/>
                </a:solidFill>
                <a:latin typeface="Segoe UI"/>
                <a:ea typeface="Segoe UI"/>
                <a:cs typeface="Segoe UI"/>
              </a:defRPr>
            </a:pPr>
            <a:r>
              <a:rPr sz="1650" b="1">
                <a:solidFill>
                  <a:srgbClr val="66B8FF"/>
                </a:solidFill>
                <a:latin typeface="Segoe UI"/>
                <a:ea typeface="Segoe UI"/>
                <a:cs typeface="Segoe UI"/>
              </a:rPr>
              <a:t>03  ·  SETTLE + EXPLAIN</a:t>
            </a:r>
          </a:p>
        </p:txBody>
      </p:sp>
      <p:sp>
        <p:nvSpPr>
          <p:cNvPr id="10" name="Text-Placeholder-16-11">
            <a:extLst xmlns:a="http://schemas.openxmlformats.org/drawingml/2006/main">
              <a:ext uri="{FF2B5EF4-FFF2-40B4-BE49-F238E27FC236}">
                <a16:creationId xmlns:a16="http://schemas.microsoft.com/office/drawing/2014/main" id="{4871ED63-DDA4-468A-A19F-7DC9CFFFD496}"/>
              </a:ext>
            </a:extLst>
          </p:cNvPr>
          <p:cNvSpPr>
            <a:spLocks xmlns:a="http://schemas.openxmlformats.org/drawingml/2006/main" noGrp="1"/>
          </p:cNvSpPr>
          <p:nvPr/>
        </p:nvSpPr>
        <p:spPr>
          <a:xfrm xmlns:a="http://schemas.openxmlformats.org/drawingml/2006/main">
            <a:off x="4457700" y="3543300"/>
            <a:ext cx="3143250" cy="1771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F4F7F5"/>
                </a:solidFill>
                <a:latin typeface="Segoe UI"/>
                <a:ea typeface="Segoe UI"/>
                <a:cs typeface="Segoe UI"/>
              </a:rPr>
              <a:t>Enforce the budget policy.</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Reserve · price cap · relevance floor · purchase limit · coverage target.</a:t>
            </a:r>
          </a:p>
        </p:txBody>
      </p:sp>
      <p:sp>
        <p:nvSpPr>
          <p:cNvPr id="11" name="Text-Placeholder-16-12">
            <a:extLst xmlns:a="http://schemas.openxmlformats.org/drawingml/2006/main">
              <a:ext uri="{FF2B5EF4-FFF2-40B4-BE49-F238E27FC236}">
                <a16:creationId xmlns:a16="http://schemas.microsoft.com/office/drawing/2014/main" id="{D9FC3FB8-846A-4DE6-AAFA-6D6273179DB0}"/>
              </a:ext>
            </a:extLst>
          </p:cNvPr>
          <p:cNvSpPr>
            <a:spLocks xmlns:a="http://schemas.openxmlformats.org/drawingml/2006/main" noGrp="1"/>
          </p:cNvSpPr>
          <p:nvPr/>
        </p:nvSpPr>
        <p:spPr>
          <a:xfrm xmlns:a="http://schemas.openxmlformats.org/drawingml/2006/main">
            <a:off x="685800" y="3543300"/>
            <a:ext cx="3048000" cy="1524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F4F7F5"/>
                </a:solidFill>
                <a:latin typeface="Segoe UI"/>
                <a:ea typeface="Segoe UI"/>
                <a:cs typeface="Segoe UI"/>
              </a:rPr>
              <a:t>Rank relevance per dollar.</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Detect redundancy and prior access before buying.</a:t>
            </a:r>
          </a:p>
        </p:txBody>
      </p:sp>
      <p:sp>
        <p:nvSpPr>
          <p:cNvPr id="12" name="Text-Placeholder-16-13">
            <a:extLst xmlns:a="http://schemas.openxmlformats.org/drawingml/2006/main">
              <a:ext uri="{FF2B5EF4-FFF2-40B4-BE49-F238E27FC236}">
                <a16:creationId xmlns:a16="http://schemas.microsoft.com/office/drawing/2014/main" id="{BD6CCE58-14E2-461B-85ED-564EB4441626}"/>
              </a:ext>
            </a:extLst>
          </p:cNvPr>
          <p:cNvSpPr>
            <a:spLocks xmlns:a="http://schemas.openxmlformats.org/drawingml/2006/main" noGrp="1"/>
          </p:cNvSpPr>
          <p:nvPr/>
        </p:nvSpPr>
        <p:spPr>
          <a:xfrm xmlns:a="http://schemas.openxmlformats.org/drawingml/2006/main">
            <a:off x="8267700" y="3543300"/>
            <a:ext cx="3143250" cy="1771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F4F7F5"/>
                </a:solidFill>
                <a:latin typeface="Segoe UI"/>
                <a:ea typeface="Segoe UI"/>
                <a:cs typeface="Segoe UI"/>
              </a:rPr>
              <a:t>Move USDC only after approval.</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Record the rule, rationale, receipt, and balances before and after.</a:t>
            </a:r>
          </a:p>
        </p:txBody>
      </p:sp>
      <p:sp>
        <p:nvSpPr>
          <p:cNvPr id="13" name="obol-accent-rule">
            <a:extLst xmlns:a="http://schemas.openxmlformats.org/drawingml/2006/main">
              <a:ext uri="{FF2B5EF4-FFF2-40B4-BE49-F238E27FC236}">
                <a16:creationId xmlns:a16="http://schemas.microsoft.com/office/drawing/2014/main" id="{86AA9DE4-246B-4CCB-BA83-8DB2172AA3BE}"/>
              </a:ext>
            </a:extLst>
          </p:cNvPr>
          <p:cNvSpPr>
            <a:spLocks xmlns:a="http://schemas.openxmlformats.org/drawingml/2006/main" noGrp="1"/>
          </p:cNvSpPr>
          <p:nvPr/>
        </p:nvSpPr>
        <p:spPr>
          <a:xfrm xmlns:a="http://schemas.openxmlformats.org/drawingml/2006/main">
            <a:off x="685800" y="1924050"/>
            <a:ext cx="990600" cy="38100"/>
          </a:xfrm>
          <a:prstGeom xmlns:a="http://schemas.openxmlformats.org/drawingml/2006/main" prst="rect">
            <a:avLst/>
          </a:prstGeom>
          <a:solidFill xmlns:a="http://schemas.openxmlformats.org/drawingml/2006/main">
            <a:srgbClr val="67E8D3"/>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Tree>
    <p:extLst>
      <p:ext uri="{BB962C8B-B14F-4D97-AF65-F5344CB8AC3E}">
        <p14:creationId xmlns:p14="http://schemas.microsoft.com/office/powerpoint/2010/main" val="717567761"/>
      </p:ext>
    </p:extLst>
  </p:cSld>
</p:sld>
</file>

<file path=ppt/slides/slide5.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14" name="Rounded-Rectangle-5-1">
            <a:extLst xmlns:a="http://schemas.openxmlformats.org/drawingml/2006/main">
              <a:ext uri="{FF2B5EF4-FFF2-40B4-BE49-F238E27FC236}">
                <a16:creationId xmlns:a16="http://schemas.microsoft.com/office/drawing/2014/main" id="{DF884AF2-C046-4B2A-9D0D-A8DD39A1AADF}"/>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7051"/>
            </a:avLst>
          </a:prstGeom>
          <a:solidFill xmlns:a="http://schemas.openxmlformats.org/drawingml/2006/main">
            <a:srgbClr val="0C1A22"/>
          </a:solidFill>
          <a:ln xmlns:a="http://schemas.openxmlformats.org/drawingml/2006/main" w="9525">
            <a:solidFill>
              <a:srgbClr val="2D4B51"/>
            </a:solidFill>
            <a:prstDash val="solid"/>
          </a:ln>
        </p:spPr>
      </p:sp>
      <p:sp>
        <p:nvSpPr>
          <p:cNvPr id="2" name="Rounded-Rectangle-6-2">
            <a:extLst xmlns:a="http://schemas.openxmlformats.org/drawingml/2006/main">
              <a:ext uri="{FF2B5EF4-FFF2-40B4-BE49-F238E27FC236}">
                <a16:creationId xmlns:a16="http://schemas.microsoft.com/office/drawing/2014/main" id="{74EC5709-F6BA-4679-83E1-60E73F110F28}"/>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7051"/>
            </a:avLst>
          </a:prstGeom>
          <a:solidFill xmlns:a="http://schemas.openxmlformats.org/drawingml/2006/main">
            <a:srgbClr val="0C1A22"/>
          </a:solidFill>
          <a:ln xmlns:a="http://schemas.openxmlformats.org/drawingml/2006/main" w="9525">
            <a:solidFill>
              <a:srgbClr val="4D472B"/>
            </a:solidFill>
            <a:prstDash val="solid"/>
          </a:ln>
        </p:spPr>
      </p:sp>
      <p:sp>
        <p:nvSpPr>
          <p:cNvPr id="3" name="Rounded-Rectangle-7-3">
            <a:extLst xmlns:a="http://schemas.openxmlformats.org/drawingml/2006/main">
              <a:ext uri="{FF2B5EF4-FFF2-40B4-BE49-F238E27FC236}">
                <a16:creationId xmlns:a16="http://schemas.microsoft.com/office/drawing/2014/main" id="{85981BE0-2738-412B-8565-E5745B318CDF}"/>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7051"/>
            </a:avLst>
          </a:prstGeom>
          <a:solidFill xmlns:a="http://schemas.openxmlformats.org/drawingml/2006/main">
            <a:srgbClr val="0C1A22"/>
          </a:solidFill>
          <a:ln xmlns:a="http://schemas.openxmlformats.org/drawingml/2006/main" w="9525">
            <a:solidFill>
              <a:srgbClr val="294662"/>
            </a:solidFill>
            <a:prstDash val="solid"/>
          </a:ln>
        </p:spPr>
      </p:sp>
      <p:sp>
        <p:nvSpPr>
          <p:cNvPr id="4" name="Slide-Number-Placeholder-1-4">
            <a:extLst xmlns:a="http://schemas.openxmlformats.org/drawingml/2006/main">
              <a:ext uri="{FF2B5EF4-FFF2-40B4-BE49-F238E27FC236}">
                <a16:creationId xmlns:a16="http://schemas.microsoft.com/office/drawing/2014/main" id="{6AA2D31D-8EA3-4E0E-B13D-379EB0E1A952}"/>
              </a:ext>
            </a:extLst>
          </p:cNvPr>
          <p:cNvSpPr>
            <a:spLocks xmlns:a="http://schemas.openxmlformats.org/drawingml/2006/main" noGrp="1"/>
          </p:cNvSpPr>
          <p:nvPr/>
        </p:nvSpPr>
        <p:spPr>
          <a:xfrm xmlns:a="http://schemas.openxmlformats.org/drawingml/2006/main">
            <a:off x="11049000" y="419100"/>
            <a:ext cx="52387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100000"/>
              </a:lnSpc>
              <a:buNone/>
              <a:defRPr sz="1350" b="1">
                <a:solidFill>
                  <a:srgbClr val="60777D"/>
                </a:solidFill>
                <a:latin typeface="Segoe UI"/>
                <a:ea typeface="Segoe UI"/>
                <a:cs typeface="Segoe UI"/>
              </a:defRPr>
            </a:pPr>
            <a:r>
              <a:rPr sz="1350" b="1">
                <a:solidFill>
                  <a:srgbClr val="60777D"/>
                </a:solidFill>
                <a:latin typeface="Segoe UI"/>
                <a:ea typeface="Segoe UI"/>
                <a:cs typeface="Segoe UI"/>
              </a:rPr>
              <a:t>05</a:t>
            </a:r>
          </a:p>
        </p:txBody>
      </p:sp>
      <p:sp>
        <p:nvSpPr>
          <p:cNvPr id="5" name="Title-2-5">
            <a:extLst xmlns:a="http://schemas.openxmlformats.org/drawingml/2006/main">
              <a:ext uri="{FF2B5EF4-FFF2-40B4-BE49-F238E27FC236}">
                <a16:creationId xmlns:a16="http://schemas.microsoft.com/office/drawing/2014/main" id="{4F7F3B62-8091-4C5C-B14C-0EBFDD30766F}"/>
              </a:ext>
            </a:extLst>
          </p:cNvPr>
          <p:cNvSpPr>
            <a:spLocks xmlns:a="http://schemas.openxmlformats.org/drawingml/2006/main" noGrp="1"/>
          </p:cNvSpPr>
          <p:nvPr/>
        </p:nvSpPr>
        <p:spPr>
          <a:xfrm xmlns:a="http://schemas.openxmlformats.org/drawingml/2006/main">
            <a:off x="685800" y="552450"/>
            <a:ext cx="10287000" cy="1181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3600" b="1">
                <a:solidFill>
                  <a:srgbClr val="F4F7F5"/>
                </a:solidFill>
                <a:latin typeface="Segoe UI"/>
                <a:ea typeface="Segoe UI"/>
                <a:cs typeface="Segoe UI"/>
              </a:defRPr>
            </a:pPr>
            <a:r>
              <a:rPr sz="3600" b="1">
                <a:solidFill>
                  <a:srgbClr val="F4F7F5"/>
                </a:solidFill>
                <a:latin typeface="Segoe UI"/>
                <a:ea typeface="Segoe UI"/>
                <a:cs typeface="Segoe UI"/>
              </a:rPr>
              <a:t>One cent moved.</a:t>
            </a:r>
          </a:p>
          <a:p xmlns:a="http://schemas.openxmlformats.org/drawingml/2006/main">
            <a:pPr algn="l">
              <a:lnSpc>
                <a:spcPct val="94000"/>
              </a:lnSpc>
              <a:buNone/>
              <a:defRPr sz="3600" b="1">
                <a:solidFill>
                  <a:srgbClr val="F4F7F5"/>
                </a:solidFill>
                <a:latin typeface="Segoe UI"/>
                <a:ea typeface="Segoe UI"/>
                <a:cs typeface="Segoe UI"/>
              </a:defRPr>
            </a:pPr>
            <a:r>
              <a:rPr sz="3600" b="1">
                <a:solidFill>
                  <a:srgbClr val="F4F7F5"/>
                </a:solidFill>
                <a:latin typeface="Segoe UI"/>
                <a:ea typeface="Segoe UI"/>
                <a:cs typeface="Segoe UI"/>
              </a:rPr>
              <a:t>Four cents stayed under policy.</a:t>
            </a:r>
          </a:p>
        </p:txBody>
      </p:sp>
      <p:sp>
        <p:nvSpPr>
          <p:cNvPr id="6" name="Content-Placeholder-9-6">
            <a:extLst xmlns:a="http://schemas.openxmlformats.org/drawingml/2006/main">
              <a:ext uri="{FF2B5EF4-FFF2-40B4-BE49-F238E27FC236}">
                <a16:creationId xmlns:a16="http://schemas.microsoft.com/office/drawing/2014/main" id="{CC4A1F94-7DC1-44EC-8667-AB3082E38F8D}"/>
              </a:ext>
            </a:extLst>
          </p:cNvPr>
          <p:cNvSpPr>
            <a:spLocks xmlns:a="http://schemas.openxmlformats.org/drawingml/2006/main" noGrp="1"/>
          </p:cNvSpPr>
          <p:nvPr/>
        </p:nvSpPr>
        <p:spPr>
          <a:xfrm xmlns:a="http://schemas.openxmlformats.org/drawingml/2006/main">
            <a:off x="990600" y="4762500"/>
            <a:ext cx="27241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9FB3B7"/>
                </a:solidFill>
                <a:latin typeface="Segoe UI"/>
                <a:ea typeface="Segoe UI"/>
                <a:cs typeface="Segoe UI"/>
              </a:defRPr>
            </a:pPr>
            <a:r>
              <a:rPr sz="1650" b="1">
                <a:solidFill>
                  <a:srgbClr val="9FB3B7"/>
                </a:solidFill>
                <a:latin typeface="Segoe UI"/>
                <a:ea typeface="Segoe UI"/>
                <a:cs typeface="Segoe UI"/>
              </a:rPr>
              <a:t>AGENT BUDGET</a:t>
            </a:r>
          </a:p>
        </p:txBody>
      </p:sp>
      <p:sp>
        <p:nvSpPr>
          <p:cNvPr id="7" name="Content-Placeholder-10-7">
            <a:extLst xmlns:a="http://schemas.openxmlformats.org/drawingml/2006/main">
              <a:ext uri="{FF2B5EF4-FFF2-40B4-BE49-F238E27FC236}">
                <a16:creationId xmlns:a16="http://schemas.microsoft.com/office/drawing/2014/main" id="{D80EC06F-3031-4A95-B0CD-7AF3E7ABF8FC}"/>
              </a:ext>
            </a:extLst>
          </p:cNvPr>
          <p:cNvSpPr>
            <a:spLocks xmlns:a="http://schemas.openxmlformats.org/drawingml/2006/main" noGrp="1"/>
          </p:cNvSpPr>
          <p:nvPr/>
        </p:nvSpPr>
        <p:spPr>
          <a:xfrm xmlns:a="http://schemas.openxmlformats.org/drawingml/2006/main">
            <a:off x="8458200" y="4762500"/>
            <a:ext cx="27241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9FB3B7"/>
                </a:solidFill>
                <a:latin typeface="Segoe UI"/>
                <a:ea typeface="Segoe UI"/>
                <a:cs typeface="Segoe UI"/>
              </a:defRPr>
            </a:pPr>
            <a:r>
              <a:rPr sz="1650" b="1">
                <a:solidFill>
                  <a:srgbClr val="9FB3B7"/>
                </a:solidFill>
                <a:latin typeface="Segoe UI"/>
                <a:ea typeface="Segoe UI"/>
                <a:cs typeface="Segoe UI"/>
              </a:rPr>
              <a:t>PRESERVED</a:t>
            </a:r>
          </a:p>
          <a:p xmlns:a="http://schemas.openxmlformats.org/drawingml/2006/main">
            <a:pPr algn="l">
              <a:lnSpc>
                <a:spcPct val="100000"/>
              </a:lnSpc>
              <a:buNone/>
              <a:defRPr sz="1650" b="1">
                <a:solidFill>
                  <a:srgbClr val="9FB3B7"/>
                </a:solidFill>
                <a:latin typeface="Segoe UI"/>
                <a:ea typeface="Segoe UI"/>
                <a:cs typeface="Segoe UI"/>
              </a:defRPr>
            </a:pPr>
            <a:r>
              <a:rPr sz="1650" b="1">
                <a:solidFill>
                  <a:srgbClr val="9FB3B7"/>
                </a:solidFill>
                <a:latin typeface="Segoe UI"/>
                <a:ea typeface="Segoe UI"/>
                <a:cs typeface="Segoe UI"/>
              </a:rPr>
              <a:t>STOPPED AT 67% COVERAGE</a:t>
            </a:r>
          </a:p>
        </p:txBody>
      </p:sp>
      <p:sp>
        <p:nvSpPr>
          <p:cNvPr id="8" name="Content-Placeholder-11-8">
            <a:extLst xmlns:a="http://schemas.openxmlformats.org/drawingml/2006/main">
              <a:ext uri="{FF2B5EF4-FFF2-40B4-BE49-F238E27FC236}">
                <a16:creationId xmlns:a16="http://schemas.microsoft.com/office/drawing/2014/main" id="{AD201222-40FA-4ADD-AE42-788B5363A9F0}"/>
              </a:ext>
            </a:extLst>
          </p:cNvPr>
          <p:cNvSpPr>
            <a:spLocks xmlns:a="http://schemas.openxmlformats.org/drawingml/2006/main" noGrp="1"/>
          </p:cNvSpPr>
          <p:nvPr/>
        </p:nvSpPr>
        <p:spPr>
          <a:xfrm xmlns:a="http://schemas.openxmlformats.org/drawingml/2006/main">
            <a:off x="4724400" y="4762500"/>
            <a:ext cx="27241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9FB3B7"/>
                </a:solidFill>
                <a:latin typeface="Segoe UI"/>
                <a:ea typeface="Segoe UI"/>
                <a:cs typeface="Segoe UI"/>
              </a:defRPr>
            </a:pPr>
            <a:r>
              <a:rPr sz="1650" b="1">
                <a:solidFill>
                  <a:srgbClr val="9FB3B7"/>
                </a:solidFill>
                <a:latin typeface="Segoe UI"/>
                <a:ea typeface="Segoe UI"/>
                <a:cs typeface="Segoe UI"/>
              </a:rPr>
              <a:t>USDC SETTLED</a:t>
            </a:r>
          </a:p>
          <a:p xmlns:a="http://schemas.openxmlformats.org/drawingml/2006/main">
            <a:pPr algn="l">
              <a:lnSpc>
                <a:spcPct val="100000"/>
              </a:lnSpc>
              <a:buNone/>
              <a:defRPr sz="1650" b="1">
                <a:solidFill>
                  <a:srgbClr val="9FB3B7"/>
                </a:solidFill>
                <a:latin typeface="Segoe UI"/>
                <a:ea typeface="Segoe UI"/>
                <a:cs typeface="Segoe UI"/>
              </a:defRPr>
            </a:pPr>
            <a:r>
              <a:rPr sz="1650" b="1">
                <a:solidFill>
                  <a:srgbClr val="9FB3B7"/>
                </a:solidFill>
                <a:latin typeface="Segoe UI"/>
                <a:ea typeface="Segoe UI"/>
                <a:cs typeface="Segoe UI"/>
              </a:rPr>
              <a:t>CIRCLE COMPLETE</a:t>
            </a:r>
          </a:p>
        </p:txBody>
      </p:sp>
      <p:sp>
        <p:nvSpPr>
          <p:cNvPr id="9" name="Content-Placeholder-9-9">
            <a:extLst xmlns:a="http://schemas.openxmlformats.org/drawingml/2006/main">
              <a:ext uri="{FF2B5EF4-FFF2-40B4-BE49-F238E27FC236}">
                <a16:creationId xmlns:a16="http://schemas.microsoft.com/office/drawing/2014/main" id="{48760706-6B82-41E4-9CA0-469CF9F33400}"/>
              </a:ext>
            </a:extLst>
          </p:cNvPr>
          <p:cNvSpPr>
            <a:spLocks xmlns:a="http://schemas.openxmlformats.org/drawingml/2006/main" noGrp="1"/>
          </p:cNvSpPr>
          <p:nvPr/>
        </p:nvSpPr>
        <p:spPr>
          <a:xfrm xmlns:a="http://schemas.openxmlformats.org/drawingml/2006/main">
            <a:off x="990600" y="3657600"/>
            <a:ext cx="2724150" cy="857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4350" b="1">
                <a:solidFill>
                  <a:srgbClr val="67E8D3"/>
                </a:solidFill>
                <a:latin typeface="Segoe UI"/>
                <a:ea typeface="Segoe UI"/>
                <a:cs typeface="Segoe UI"/>
              </a:defRPr>
            </a:pPr>
            <a:r>
              <a:rPr sz="4350" b="1">
                <a:solidFill>
                  <a:srgbClr val="67E8D3"/>
                </a:solidFill>
                <a:latin typeface="Segoe UI"/>
                <a:ea typeface="Segoe UI"/>
                <a:cs typeface="Segoe UI"/>
              </a:rPr>
              <a:t>$0.050</a:t>
            </a:r>
          </a:p>
        </p:txBody>
      </p:sp>
      <p:sp>
        <p:nvSpPr>
          <p:cNvPr id="10" name="Content-Placeholder-9-10">
            <a:extLst xmlns:a="http://schemas.openxmlformats.org/drawingml/2006/main">
              <a:ext uri="{FF2B5EF4-FFF2-40B4-BE49-F238E27FC236}">
                <a16:creationId xmlns:a16="http://schemas.microsoft.com/office/drawing/2014/main" id="{AF4AF150-6E7E-46BE-A238-8B917C945E51}"/>
              </a:ext>
            </a:extLst>
          </p:cNvPr>
          <p:cNvSpPr>
            <a:spLocks xmlns:a="http://schemas.openxmlformats.org/drawingml/2006/main" noGrp="1"/>
          </p:cNvSpPr>
          <p:nvPr/>
        </p:nvSpPr>
        <p:spPr>
          <a:xfrm xmlns:a="http://schemas.openxmlformats.org/drawingml/2006/main">
            <a:off x="4724400" y="3657600"/>
            <a:ext cx="2724150" cy="857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4350" b="1">
                <a:solidFill>
                  <a:srgbClr val="F3C75D"/>
                </a:solidFill>
                <a:latin typeface="Segoe UI"/>
                <a:ea typeface="Segoe UI"/>
                <a:cs typeface="Segoe UI"/>
              </a:defRPr>
            </a:pPr>
            <a:r>
              <a:rPr sz="4350" b="1">
                <a:solidFill>
                  <a:srgbClr val="F3C75D"/>
                </a:solidFill>
                <a:latin typeface="Segoe UI"/>
                <a:ea typeface="Segoe UI"/>
                <a:cs typeface="Segoe UI"/>
              </a:rPr>
              <a:t>$0.010</a:t>
            </a:r>
          </a:p>
        </p:txBody>
      </p:sp>
      <p:sp>
        <p:nvSpPr>
          <p:cNvPr id="11" name="Content-Placeholder-9-11">
            <a:extLst xmlns:a="http://schemas.openxmlformats.org/drawingml/2006/main">
              <a:ext uri="{FF2B5EF4-FFF2-40B4-BE49-F238E27FC236}">
                <a16:creationId xmlns:a16="http://schemas.microsoft.com/office/drawing/2014/main" id="{7282DC21-4C50-424C-9AB6-9EA013D50389}"/>
              </a:ext>
            </a:extLst>
          </p:cNvPr>
          <p:cNvSpPr>
            <a:spLocks xmlns:a="http://schemas.openxmlformats.org/drawingml/2006/main" noGrp="1"/>
          </p:cNvSpPr>
          <p:nvPr/>
        </p:nvSpPr>
        <p:spPr>
          <a:xfrm xmlns:a="http://schemas.openxmlformats.org/drawingml/2006/main">
            <a:off x="8458200" y="3657600"/>
            <a:ext cx="2724150" cy="857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4350" b="1">
                <a:solidFill>
                  <a:srgbClr val="66B8FF"/>
                </a:solidFill>
                <a:latin typeface="Segoe UI"/>
                <a:ea typeface="Segoe UI"/>
                <a:cs typeface="Segoe UI"/>
              </a:defRPr>
            </a:pPr>
            <a:r>
              <a:rPr sz="4350" b="1">
                <a:solidFill>
                  <a:srgbClr val="66B8FF"/>
                </a:solidFill>
                <a:latin typeface="Segoe UI"/>
                <a:ea typeface="Segoe UI"/>
                <a:cs typeface="Segoe UI"/>
              </a:rPr>
              <a:t>$0.040</a:t>
            </a:r>
          </a:p>
        </p:txBody>
      </p:sp>
      <p:sp>
        <p:nvSpPr>
          <p:cNvPr id="12" name="Content-Placeholder-15-12">
            <a:extLst xmlns:a="http://schemas.openxmlformats.org/drawingml/2006/main">
              <a:ext uri="{FF2B5EF4-FFF2-40B4-BE49-F238E27FC236}">
                <a16:creationId xmlns:a16="http://schemas.microsoft.com/office/drawing/2014/main" id="{6D706A7B-2C56-46EF-A828-B6811D3CE809}"/>
              </a:ext>
            </a:extLst>
          </p:cNvPr>
          <p:cNvSpPr>
            <a:spLocks xmlns:a="http://schemas.openxmlformats.org/drawingml/2006/main" noGrp="1"/>
          </p:cNvSpPr>
          <p:nvPr/>
        </p:nvSpPr>
        <p:spPr>
          <a:xfrm xmlns:a="http://schemas.openxmlformats.org/drawingml/2006/main">
            <a:off x="685800" y="1885950"/>
            <a:ext cx="685800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600" b="1">
                <a:solidFill>
                  <a:srgbClr val="67E8D3"/>
                </a:solidFill>
                <a:latin typeface="Segoe UI"/>
                <a:ea typeface="Segoe UI"/>
                <a:cs typeface="Segoe UI"/>
              </a:rPr>
              <a:t>06 AUG 2026  ·  SEPARATE ARC TESTNET EVALUATION</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Circle COMPLETE  ·  Arc receipt successful  ·  block 55,584,226</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Two RPC receipts matched  ·  </a:t>
            </a:r>
            <a:r>
              <a:rPr sz="1600">
                <a:solidFill>
                  <a:srgbClr val="9FB3B7"/>
                </a:solidFill>
                <a:latin typeface="Segoe UI"/>
                <a:ea typeface="Segoe UI"/>
                <a:cs typeface="Segoe UI"/>
                <a:hlinkClick xmlns:r="http://schemas.openxmlformats.org/officeDocument/2006/relationships" r:id="R16bb8f17e92144b9"/>
              </a:rPr>
              <a:t>0x03a7…b92809</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No public-demo activity, production revenue, or organic usage.</a:t>
            </a:r>
          </a:p>
        </p:txBody>
      </p:sp>
      <p:sp>
        <p:nvSpPr>
          <p:cNvPr id="13" name="settlement-mode-label">
            <a:extLst xmlns:a="http://schemas.openxmlformats.org/drawingml/2006/main">
              <a:ext uri="{FF2B5EF4-FFF2-40B4-BE49-F238E27FC236}">
                <a16:creationId xmlns:a16="http://schemas.microsoft.com/office/drawing/2014/main" id="{3FEB9867-7D55-4921-9EC4-94DFF1556960}"/>
              </a:ext>
            </a:extLst>
          </p:cNvPr>
          <p:cNvSpPr>
            <a:spLocks xmlns:a="http://schemas.openxmlformats.org/drawingml/2006/main" noGrp="1"/>
          </p:cNvSpPr>
          <p:nvPr/>
        </p:nvSpPr>
        <p:spPr>
          <a:xfrm xmlns:a="http://schemas.openxmlformats.org/drawingml/2006/main">
            <a:off x="7905750" y="2076450"/>
            <a:ext cx="3600450" cy="381000"/>
          </a:xfrm>
          <a:prstGeom xmlns:a="http://schemas.openxmlformats.org/drawingml/2006/main" prst="roundRect">
            <a:avLst>
              <a:gd name="adj" fmla="val 45000"/>
            </a:avLst>
          </a:prstGeom>
          <a:solidFill xmlns:a="http://schemas.openxmlformats.org/drawingml/2006/main">
            <a:srgbClr val="0C1A22"/>
          </a:solidFill>
          <a:ln xmlns:a="http://schemas.openxmlformats.org/drawingml/2006/main" w="9525">
            <a:solidFill>
              <a:srgbClr val="67E8D3"/>
            </a:solidFill>
            <a:prstDash val="solid"/>
          </a:ln>
        </p:spPr>
        <p:txBody>
          <a:bodyPr xmlns:a="http://schemas.openxmlformats.org/drawingml/2006/main" wrap="square" lIns="114300" tIns="38100" rIns="114300" bIns="38100" anchor="ctr">
            <a:noAutofit/>
          </a:bodyPr>
          <a:lstStyle xmlns:a="http://schemas.openxmlformats.org/drawingml/2006/main"/>
          <a:p xmlns:a="http://schemas.openxmlformats.org/drawingml/2006/main">
            <a:pPr algn="ctr">
              <a:lnSpc>
                <a:spcPct val="100000"/>
              </a:lnSpc>
              <a:buNone/>
              <a:defRPr sz="1200" b="1">
                <a:solidFill>
                  <a:srgbClr val="67E8D3"/>
                </a:solidFill>
                <a:latin typeface="Segoe UI"/>
                <a:ea typeface="Segoe UI"/>
                <a:cs typeface="Segoe UI"/>
              </a:defRPr>
            </a:pPr>
            <a:r>
              <a:rPr sz="1200" b="1">
                <a:solidFill>
                  <a:srgbClr val="67E8D3"/>
                </a:solidFill>
                <a:latin typeface="Segoe UI"/>
                <a:ea typeface="Segoe UI"/>
                <a:cs typeface="Segoe UI"/>
              </a:rPr>
              <a:t>ARC TESTNET  ·  RECEIPT VERIFIED</a:t>
            </a:r>
          </a:p>
        </p:txBody>
      </p:sp>
    </p:spTree>
    <p:extLst>
      <p:ext uri="{BB962C8B-B14F-4D97-AF65-F5344CB8AC3E}">
        <p14:creationId xmlns:p14="http://schemas.microsoft.com/office/powerpoint/2010/main" val="546002931"/>
      </p:ext>
    </p:extLst>
  </p:cSld>
</p:sld>
</file>

<file path=ppt/slides/slide6.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8" name="Google-Shape-532-p58-2">
            <a:extLst xmlns:a="http://schemas.openxmlformats.org/drawingml/2006/main">
              <a:ext uri="{FF2B5EF4-FFF2-40B4-BE49-F238E27FC236}">
                <a16:creationId xmlns:a16="http://schemas.microsoft.com/office/drawing/2014/main" id="{7B8795FE-E90E-437D-AD6D-41665B050C11}"/>
              </a:ext>
            </a:extLst>
          </p:cNvPr>
          <p:cNvSpPr>
            <a:spLocks xmlns:a="http://schemas.openxmlformats.org/drawingml/2006/main" noGrp="1"/>
          </p:cNvSpPr>
          <p:nvPr/>
        </p:nvSpPr>
        <p:spPr>
          <a:xfrm xmlns:a="http://schemas.openxmlformats.org/drawingml/2006/main">
            <a:off x="11049000" y="419100"/>
            <a:ext cx="523875"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100000"/>
              </a:lnSpc>
              <a:buNone/>
              <a:defRPr sz="1350" b="1">
                <a:solidFill>
                  <a:srgbClr val="60777D"/>
                </a:solidFill>
                <a:latin typeface="Segoe UI"/>
                <a:ea typeface="Segoe UI"/>
                <a:cs typeface="Segoe UI"/>
              </a:defRPr>
            </a:pPr>
            <a:r>
              <a:rPr sz="1350" b="1">
                <a:solidFill>
                  <a:srgbClr val="60777D"/>
                </a:solidFill>
                <a:latin typeface="Segoe UI"/>
                <a:ea typeface="Segoe UI"/>
                <a:cs typeface="Segoe UI"/>
              </a:rPr>
              <a:t>06</a:t>
            </a:r>
          </a:p>
        </p:txBody>
      </p:sp>
      <p:sp>
        <p:nvSpPr>
          <p:cNvPr id="2" name="Google-Shape-533-p58-3">
            <a:extLst xmlns:a="http://schemas.openxmlformats.org/drawingml/2006/main">
              <a:ext uri="{FF2B5EF4-FFF2-40B4-BE49-F238E27FC236}">
                <a16:creationId xmlns:a16="http://schemas.microsoft.com/office/drawing/2014/main" id="{D42B2A20-736D-4076-B503-E7F3C257ED10}"/>
              </a:ext>
            </a:extLst>
          </p:cNvPr>
          <p:cNvSpPr>
            <a:spLocks xmlns:a="http://schemas.openxmlformats.org/drawingml/2006/main" noGrp="1"/>
          </p:cNvSpPr>
          <p:nvPr/>
        </p:nvSpPr>
        <p:spPr>
          <a:xfrm xmlns:a="http://schemas.openxmlformats.org/drawingml/2006/main">
            <a:off x="685800" y="552450"/>
            <a:ext cx="6667500" cy="1181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3600" b="1">
                <a:solidFill>
                  <a:srgbClr val="F4F7F5"/>
                </a:solidFill>
                <a:latin typeface="Segoe UI"/>
                <a:ea typeface="Segoe UI"/>
                <a:cs typeface="Segoe UI"/>
              </a:defRPr>
            </a:pPr>
            <a:r>
              <a:rPr sz="3600" b="1">
                <a:solidFill>
                  <a:srgbClr val="F4F7F5"/>
                </a:solidFill>
                <a:latin typeface="Segoe UI"/>
                <a:ea typeface="Segoe UI"/>
                <a:cs typeface="Segoe UI"/>
              </a:rPr>
              <a:t>An existing MVP,</a:t>
            </a:r>
          </a:p>
          <a:p xmlns:a="http://schemas.openxmlformats.org/drawingml/2006/main">
            <a:pPr algn="l">
              <a:lnSpc>
                <a:spcPct val="94000"/>
              </a:lnSpc>
              <a:buNone/>
              <a:defRPr sz="3600" b="1">
                <a:solidFill>
                  <a:srgbClr val="F4F7F5"/>
                </a:solidFill>
                <a:latin typeface="Segoe UI"/>
                <a:ea typeface="Segoe UI"/>
                <a:cs typeface="Segoe UI"/>
              </a:defRPr>
            </a:pPr>
            <a:r>
              <a:rPr sz="3600" b="1">
                <a:solidFill>
                  <a:srgbClr val="F4F7F5"/>
                </a:solidFill>
                <a:latin typeface="Segoe UI"/>
                <a:ea typeface="Segoe UI"/>
                <a:cs typeface="Segoe UI"/>
              </a:rPr>
              <a:t>substantially extended for Arc.</a:t>
            </a:r>
          </a:p>
        </p:txBody>
      </p:sp>
      <p:sp>
        <p:nvSpPr>
          <p:cNvPr id="3" name="Google-Shape-534-p58-4">
            <a:extLst xmlns:a="http://schemas.openxmlformats.org/drawingml/2006/main">
              <a:ext uri="{FF2B5EF4-FFF2-40B4-BE49-F238E27FC236}">
                <a16:creationId xmlns:a16="http://schemas.microsoft.com/office/drawing/2014/main" id="{81A700FF-830F-465C-B585-4BD111F36293}"/>
              </a:ext>
            </a:extLst>
          </p:cNvPr>
          <p:cNvSpPr>
            <a:spLocks xmlns:a="http://schemas.openxmlformats.org/drawingml/2006/main" noGrp="1"/>
          </p:cNvSpPr>
          <p:nvPr/>
        </p:nvSpPr>
        <p:spPr>
          <a:xfrm xmlns:a="http://schemas.openxmlformats.org/drawingml/2006/main">
            <a:off x="685800" y="3371850"/>
            <a:ext cx="3276600" cy="2476500"/>
          </a:xfrm>
          <a:prstGeom xmlns:a="http://schemas.openxmlformats.org/drawingml/2006/main" prst="roundRect">
            <a:avLst>
              <a:gd name="adj" fmla="val 8462"/>
            </a:avLst>
          </a:prstGeom>
          <a:solidFill xmlns:a="http://schemas.openxmlformats.org/drawingml/2006/main">
            <a:srgbClr val="0C1A22"/>
          </a:solidFill>
          <a:ln xmlns:a="http://schemas.openxmlformats.org/drawingml/2006/main" w="9525">
            <a:solidFill>
              <a:srgbClr val="2D4B51"/>
            </a:solidFill>
            <a:prstDash val="solid"/>
          </a:ln>
        </p:spPr>
        <p:txBody>
          <a:bodyPr xmlns:a="http://schemas.openxmlformats.org/drawingml/2006/main" wrap="square" lIns="266700" tIns="247650" rIns="266700" bIns="19050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67E8D3"/>
                </a:solidFill>
                <a:latin typeface="Segoe UI"/>
                <a:ea typeface="Segoe UI"/>
                <a:cs typeface="Segoe UI"/>
              </a:rPr>
              <a:t>INHERITED</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Web MVP
Buy / reuse / skip loop
Circle + Arc settlement path
Agent API
x402-style endpoint</a:t>
            </a:r>
          </a:p>
        </p:txBody>
      </p:sp>
      <p:sp>
        <p:nvSpPr>
          <p:cNvPr id="4" name="Content-Placeholder-1-5">
            <a:extLst xmlns:a="http://schemas.openxmlformats.org/drawingml/2006/main">
              <a:ext uri="{FF2B5EF4-FFF2-40B4-BE49-F238E27FC236}">
                <a16:creationId xmlns:a16="http://schemas.microsoft.com/office/drawing/2014/main" id="{D035C726-ACFD-49BB-BCB2-529FF77134A6}"/>
              </a:ext>
            </a:extLst>
          </p:cNvPr>
          <p:cNvSpPr>
            <a:spLocks xmlns:a="http://schemas.openxmlformats.org/drawingml/2006/main" noGrp="1"/>
          </p:cNvSpPr>
          <p:nvPr/>
        </p:nvSpPr>
        <p:spPr>
          <a:xfrm xmlns:a="http://schemas.openxmlformats.org/drawingml/2006/main">
            <a:off x="8229600" y="3371850"/>
            <a:ext cx="3276600" cy="2476500"/>
          </a:xfrm>
          <a:prstGeom xmlns:a="http://schemas.openxmlformats.org/drawingml/2006/main" prst="roundRect">
            <a:avLst>
              <a:gd name="adj" fmla="val 8462"/>
            </a:avLst>
          </a:prstGeom>
          <a:solidFill xmlns:a="http://schemas.openxmlformats.org/drawingml/2006/main">
            <a:srgbClr val="0C1A22"/>
          </a:solidFill>
          <a:ln xmlns:a="http://schemas.openxmlformats.org/drawingml/2006/main" w="9525">
            <a:solidFill>
              <a:srgbClr val="294662"/>
            </a:solidFill>
            <a:prstDash val="solid"/>
          </a:ln>
        </p:spPr>
        <p:txBody>
          <a:bodyPr xmlns:a="http://schemas.openxmlformats.org/drawingml/2006/main" wrap="square" lIns="266700" tIns="247650" rIns="266700" bIns="19050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66B8FF"/>
                </a:solidFill>
                <a:latin typeface="Segoe UI"/>
                <a:ea typeface="Segoe UI"/>
                <a:cs typeface="Segoe UI"/>
              </a:rPr>
              <a:t>VERIFIED</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Circle Wallets → Arc verifier
Native API 201
x402 402 → 200
Strict receipt match
46 backend tests passing</a:t>
            </a:r>
          </a:p>
        </p:txBody>
      </p:sp>
      <p:sp>
        <p:nvSpPr>
          <p:cNvPr id="5" name="Content-Placeholder-2-6">
            <a:extLst xmlns:a="http://schemas.openxmlformats.org/drawingml/2006/main">
              <a:ext uri="{FF2B5EF4-FFF2-40B4-BE49-F238E27FC236}">
                <a16:creationId xmlns:a16="http://schemas.microsoft.com/office/drawing/2014/main" id="{58D2D180-6681-49A0-B246-F71728133AC2}"/>
              </a:ext>
            </a:extLst>
          </p:cNvPr>
          <p:cNvSpPr>
            <a:spLocks xmlns:a="http://schemas.openxmlformats.org/drawingml/2006/main" noGrp="1"/>
          </p:cNvSpPr>
          <p:nvPr/>
        </p:nvSpPr>
        <p:spPr>
          <a:xfrm xmlns:a="http://schemas.openxmlformats.org/drawingml/2006/main">
            <a:off x="4457700" y="3371850"/>
            <a:ext cx="3276600" cy="2476500"/>
          </a:xfrm>
          <a:prstGeom xmlns:a="http://schemas.openxmlformats.org/drawingml/2006/main" prst="roundRect">
            <a:avLst>
              <a:gd name="adj" fmla="val 8462"/>
            </a:avLst>
          </a:prstGeom>
          <a:solidFill xmlns:a="http://schemas.openxmlformats.org/drawingml/2006/main">
            <a:srgbClr val="0C1A22"/>
          </a:solidFill>
          <a:ln xmlns:a="http://schemas.openxmlformats.org/drawingml/2006/main" w="9525">
            <a:solidFill>
              <a:srgbClr val="4D472B"/>
            </a:solidFill>
            <a:prstDash val="solid"/>
          </a:ln>
        </p:spPr>
        <p:txBody>
          <a:bodyPr xmlns:a="http://schemas.openxmlformats.org/drawingml/2006/main" wrap="square" lIns="266700" tIns="247650" rIns="266700" bIns="19050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800" b="1">
                <a:solidFill>
                  <a:srgbClr val="F3C75D"/>
                </a:solidFill>
                <a:latin typeface="Segoe UI"/>
                <a:ea typeface="Segoe UI"/>
                <a:cs typeface="Segoe UI"/>
              </a:rPr>
              <a:t>NEW FOR ARC</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rPr>
              <a:t>Request-scoped spending guards
Policy snapshots + stop audits
Fail-closed deployment
Fresh Arc Testnet evidence
Server-side Arc verifier</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ce71b000fa14054"/>
          <a:stretch xmlns:a="http://schemas.openxmlformats.org/drawingml/2006/main"/>
        </p:blipFill>
        <p:spPr>
          <a:xfrm xmlns:a="http://schemas.openxmlformats.org/drawingml/2006/main">
            <a:off x="7429500" y="1028700"/>
            <a:ext cx="4000500" cy="2038350"/>
          </a:xfrm>
          <a:prstGeom xmlns:a="http://schemas.openxmlformats.org/drawingml/2006/main" prst="roundRect">
            <a:avLst>
              <a:gd name="adj" fmla="val 9346"/>
            </a:avLst>
          </a:prstGeom>
        </p:spPr>
      </p:pic>
      <p:sp>
        <p:nvSpPr>
          <p:cNvPr id="7" name="verified-build-proof">
            <a:extLst xmlns:a="http://schemas.openxmlformats.org/drawingml/2006/main">
              <a:ext uri="{FF2B5EF4-FFF2-40B4-BE49-F238E27FC236}">
                <a16:creationId xmlns:a16="http://schemas.microsoft.com/office/drawing/2014/main" id="{84726B0B-0807-4D93-9604-47E4CEF97BE2}"/>
              </a:ext>
            </a:extLst>
          </p:cNvPr>
          <p:cNvSpPr>
            <a:spLocks xmlns:a="http://schemas.openxmlformats.org/drawingml/2006/main" noGrp="1"/>
          </p:cNvSpPr>
          <p:nvPr/>
        </p:nvSpPr>
        <p:spPr>
          <a:xfrm xmlns:a="http://schemas.openxmlformats.org/drawingml/2006/main">
            <a:off x="685800" y="1962150"/>
            <a:ext cx="60960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600" b="1">
                <a:solidFill>
                  <a:srgbClr val="F3C75D"/>
                </a:solidFill>
                <a:latin typeface="Segoe UI"/>
                <a:ea typeface="Segoe UI"/>
                <a:cs typeface="Segoe UI"/>
              </a:rPr>
              <a:t>EXISTING PROJECT  ·  SUBSTANTIAL NEW ARC ITERATION</a:t>
            </a:r>
          </a:p>
          <a:p xmlns:a="http://schemas.openxmlformats.org/drawingml/2006/main">
            <a:pPr algn="l">
              <a:defRPr sz="1800">
                <a:solidFill>
                  <a:srgbClr val="F4F7F5"/>
                </a:solidFill>
                <a:latin typeface="Segoe UI"/>
                <a:ea typeface="Segoe UI"/>
                <a:cs typeface="Segoe UI"/>
              </a:defRPr>
            </a:pPr>
            <a:r>
              <a:rPr sz="1800" b="1">
                <a:solidFill>
                  <a:srgbClr val="F4F7F5"/>
                </a:solidFill>
                <a:latin typeface="Segoe UI"/>
                <a:ea typeface="Segoe UI"/>
                <a:cs typeface="Segoe UI"/>
              </a:rPr>
              <a:t>46 / 46 backend tests passing  ·  frontend JavaScript syntax validated</a:t>
            </a:r>
          </a:p>
        </p:txBody>
      </p:sp>
    </p:spTree>
    <p:extLst>
      <p:ext uri="{BB962C8B-B14F-4D97-AF65-F5344CB8AC3E}">
        <p14:creationId xmlns:p14="http://schemas.microsoft.com/office/powerpoint/2010/main" val="582825297"/>
      </p:ext>
    </p:extLst>
  </p:cSld>
</p:sld>
</file>

<file path=ppt/slides/slide7.xml><?xml version="1.0" encoding="utf-8"?>
<p:sld xmlns:p="http://schemas.openxmlformats.org/presentationml/2006/main">
  <p:cSld>
    <p:bg>
      <p:bgPr>
        <a:solidFill xmlns:a="http://schemas.openxmlformats.org/drawingml/2006/main">
          <a:srgbClr val="061018"/>
        </a:solidFill>
      </p:bgPr>
    </p:bg>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5D0C2E96-1D7F-47C4-90AE-2ADCE115D47E}"/>
              </a:ext>
            </a:extLst>
          </p:cNvPr>
          <p:cNvSpPr>
            <a:spLocks xmlns:a="http://schemas.openxmlformats.org/drawingml/2006/main" noGrp="1"/>
          </p:cNvSpPr>
          <p:nvPr/>
        </p:nvSpPr>
        <p:spPr>
          <a:xfrm xmlns:a="http://schemas.openxmlformats.org/drawingml/2006/main">
            <a:off x="685800" y="1409700"/>
            <a:ext cx="714375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5250" b="1">
                <a:solidFill>
                  <a:srgbClr val="F4F7F5"/>
                </a:solidFill>
                <a:latin typeface="Segoe UI"/>
                <a:ea typeface="Segoe UI"/>
                <a:cs typeface="Segoe UI"/>
              </a:defRPr>
            </a:pPr>
            <a:r>
              <a:rPr sz="5250" b="1">
                <a:solidFill>
                  <a:srgbClr val="F4F7F5"/>
                </a:solidFill>
                <a:latin typeface="Segoe UI"/>
                <a:ea typeface="Segoe UI"/>
                <a:cs typeface="Segoe UI"/>
              </a:rPr>
              <a:t>Machine reading</a:t>
            </a:r>
          </a:p>
          <a:p xmlns:a="http://schemas.openxmlformats.org/drawingml/2006/main">
            <a:pPr algn="l">
              <a:lnSpc>
                <a:spcPct val="92000"/>
              </a:lnSpc>
              <a:buNone/>
              <a:defRPr sz="5250" b="1">
                <a:solidFill>
                  <a:srgbClr val="F4F7F5"/>
                </a:solidFill>
                <a:latin typeface="Segoe UI"/>
                <a:ea typeface="Segoe UI"/>
                <a:cs typeface="Segoe UI"/>
              </a:defRPr>
            </a:pPr>
            <a:r>
              <a:rPr sz="5250" b="1">
                <a:solidFill>
                  <a:srgbClr val="F4F7F5"/>
                </a:solidFill>
                <a:latin typeface="Segoe UI"/>
                <a:ea typeface="Segoe UI"/>
                <a:cs typeface="Segoe UI"/>
              </a:rPr>
              <a:t>becomes accountable.</a:t>
            </a:r>
          </a:p>
        </p:txBody>
      </p:sp>
      <p:sp>
        <p:nvSpPr>
          <p:cNvPr id="2" name="Subtitle-4-2">
            <a:extLst xmlns:a="http://schemas.openxmlformats.org/drawingml/2006/main">
              <a:ext uri="{FF2B5EF4-FFF2-40B4-BE49-F238E27FC236}">
                <a16:creationId xmlns:a16="http://schemas.microsoft.com/office/drawing/2014/main" id="{5EA278AD-3CC3-4636-B6DA-9B876C8DC60B}"/>
              </a:ext>
            </a:extLst>
          </p:cNvPr>
          <p:cNvSpPr>
            <a:spLocks xmlns:a="http://schemas.openxmlformats.org/drawingml/2006/main" noGrp="1"/>
          </p:cNvSpPr>
          <p:nvPr/>
        </p:nvSpPr>
        <p:spPr>
          <a:xfrm xmlns:a="http://schemas.openxmlformats.org/drawingml/2006/main">
            <a:off x="723900" y="4114800"/>
            <a:ext cx="3429000" cy="1885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F3C75D"/>
                </a:solidFill>
                <a:latin typeface="Segoe UI"/>
                <a:ea typeface="Segoe UI"/>
                <a:cs typeface="Segoe UI"/>
              </a:defRPr>
            </a:pPr>
            <a:r>
              <a:rPr sz="2100" b="1">
                <a:solidFill>
                  <a:srgbClr val="F3C75D"/>
                </a:solidFill>
                <a:latin typeface="Segoe UI"/>
                <a:ea typeface="Segoe UI"/>
                <a:cs typeface="Segoe UI"/>
              </a:rPr>
              <a:t>A PRICE.</a:t>
            </a:r>
          </a:p>
          <a:p xmlns:a="http://schemas.openxmlformats.org/drawingml/2006/main">
            <a:pPr algn="l">
              <a:lnSpc>
                <a:spcPct val="100000"/>
              </a:lnSpc>
              <a:buNone/>
              <a:defRPr sz="2100" b="1">
                <a:solidFill>
                  <a:srgbClr val="F3C75D"/>
                </a:solidFill>
                <a:latin typeface="Segoe UI"/>
                <a:ea typeface="Segoe UI"/>
                <a:cs typeface="Segoe UI"/>
              </a:defRPr>
            </a:pPr>
            <a:r>
              <a:rPr sz="2100" b="1">
                <a:solidFill>
                  <a:srgbClr val="F3C75D"/>
                </a:solidFill>
                <a:latin typeface="Segoe UI"/>
                <a:ea typeface="Segoe UI"/>
                <a:cs typeface="Segoe UI"/>
              </a:rPr>
              <a:t>A POLICY.</a:t>
            </a:r>
          </a:p>
          <a:p xmlns:a="http://schemas.openxmlformats.org/drawingml/2006/main">
            <a:pPr algn="l">
              <a:lnSpc>
                <a:spcPct val="100000"/>
              </a:lnSpc>
              <a:buNone/>
              <a:defRPr sz="2100" b="1">
                <a:solidFill>
                  <a:srgbClr val="F3C75D"/>
                </a:solidFill>
                <a:latin typeface="Segoe UI"/>
                <a:ea typeface="Segoe UI"/>
                <a:cs typeface="Segoe UI"/>
              </a:defRPr>
            </a:pPr>
            <a:r>
              <a:rPr sz="2100" b="1">
                <a:solidFill>
                  <a:srgbClr val="F3C75D"/>
                </a:solidFill>
                <a:latin typeface="Segoe UI"/>
                <a:ea typeface="Segoe UI"/>
                <a:cs typeface="Segoe UI"/>
              </a:rPr>
              <a:t>A RECEIPT.</a:t>
            </a:r>
          </a:p>
          <a:p xmlns:a="http://schemas.openxmlformats.org/drawingml/2006/main">
            <a:pPr algn="l">
              <a:buNone/>
              <a:defRPr sz="2400">
                <a:solidFill>
                  <a:srgbClr val="000000"/>
                </a:solidFill>
                <a:latin typeface="Helvetica Neue"/>
                <a:ea typeface="Helvetica Neue"/>
                <a:cs typeface="Helvetica Neue"/>
              </a:defRPr>
            </a:pPr>
            <a:r>
              <a:t/>
            </a:r>
          </a:p>
          <a:p xmlns:a="http://schemas.openxmlformats.org/drawingml/2006/main">
            <a:pPr algn="l">
              <a:lnSpc>
                <a:spcPct val="100000"/>
              </a:lnSpc>
              <a:buNone/>
              <a:defRPr sz="2100" b="1">
                <a:solidFill>
                  <a:srgbClr val="F3C75D"/>
                </a:solidFill>
                <a:latin typeface="Segoe UI"/>
                <a:ea typeface="Segoe UI"/>
                <a:cs typeface="Segoe UI"/>
              </a:defRPr>
            </a:pPr>
            <a:r>
              <a:rPr sz="2100" b="1">
                <a:solidFill>
                  <a:srgbClr val="F3C75D"/>
                </a:solidFill>
                <a:latin typeface="Segoe UI"/>
                <a:ea typeface="Segoe UI"/>
                <a:cs typeface="Segoe UI"/>
              </a:rPr>
              <a:t>Chengzi  ·  Solo builder</a:t>
            </a:r>
          </a:p>
        </p:txBody>
      </p:sp>
      <p:sp>
        <p:nvSpPr>
          <p:cNvPr id="3" name="Subtitle-4-3">
            <a:extLst xmlns:a="http://schemas.openxmlformats.org/drawingml/2006/main">
              <a:ext uri="{FF2B5EF4-FFF2-40B4-BE49-F238E27FC236}">
                <a16:creationId xmlns:a16="http://schemas.microsoft.com/office/drawing/2014/main" id="{93C5AC08-A907-4DBD-8A08-4EEF40034FB6}"/>
              </a:ext>
            </a:extLst>
          </p:cNvPr>
          <p:cNvSpPr>
            <a:spLocks xmlns:a="http://schemas.openxmlformats.org/drawingml/2006/main" noGrp="1"/>
          </p:cNvSpPr>
          <p:nvPr/>
        </p:nvSpPr>
        <p:spPr>
          <a:xfrm xmlns:a="http://schemas.openxmlformats.org/drawingml/2006/main">
            <a:off x="685800" y="514350"/>
            <a:ext cx="40957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350" b="1">
                <a:solidFill>
                  <a:srgbClr val="67E8D3"/>
                </a:solidFill>
                <a:latin typeface="Segoe UI"/>
                <a:ea typeface="Segoe UI"/>
                <a:cs typeface="Segoe UI"/>
              </a:defRPr>
            </a:pPr>
            <a:r>
              <a:rPr sz="1350" b="1">
                <a:solidFill>
                  <a:srgbClr val="67E8D3"/>
                </a:solidFill>
                <a:latin typeface="Segoe UI"/>
                <a:ea typeface="Segoe UI"/>
                <a:cs typeface="Segoe UI"/>
              </a:rPr>
              <a:t>PUBLIC BUILD  ·  VERIFIED EVIDENCE</a:t>
            </a:r>
          </a:p>
        </p:txBody>
      </p:sp>
      <p:sp>
        <p:nvSpPr>
          <p:cNvPr id="4" name="submission-links">
            <a:extLst xmlns:a="http://schemas.openxmlformats.org/drawingml/2006/main">
              <a:ext uri="{FF2B5EF4-FFF2-40B4-BE49-F238E27FC236}">
                <a16:creationId xmlns:a16="http://schemas.microsoft.com/office/drawing/2014/main" id="{C7A146D2-BB5D-4013-9010-8AAF142B3AB0}"/>
              </a:ext>
            </a:extLst>
          </p:cNvPr>
          <p:cNvSpPr>
            <a:spLocks xmlns:a="http://schemas.openxmlformats.org/drawingml/2006/main" noGrp="1"/>
          </p:cNvSpPr>
          <p:nvPr/>
        </p:nvSpPr>
        <p:spPr>
          <a:xfrm xmlns:a="http://schemas.openxmlformats.org/drawingml/2006/main">
            <a:off x="5238750" y="2857500"/>
            <a:ext cx="6096000" cy="3009900"/>
          </a:xfrm>
          <a:prstGeom xmlns:a="http://schemas.openxmlformats.org/drawingml/2006/main" prst="roundRect">
            <a:avLst>
              <a:gd name="adj" fmla="val 7595"/>
            </a:avLst>
          </a:prstGeom>
          <a:solidFill xmlns:a="http://schemas.openxmlformats.org/drawingml/2006/main">
            <a:srgbClr val="0C1A22"/>
          </a:solidFill>
          <a:ln xmlns:a="http://schemas.openxmlformats.org/drawingml/2006/main" w="9525">
            <a:solidFill>
              <a:srgbClr val="20353C"/>
            </a:solidFill>
            <a:prstDash val="solid"/>
          </a:ln>
        </p:spPr>
        <p:txBody>
          <a:bodyPr xmlns:a="http://schemas.openxmlformats.org/drawingml/2006/main" wrap="square" lIns="285750" tIns="247650" rIns="285750" bIns="209550" anchor="t">
            <a:noAutofit/>
          </a:bodyPr>
          <a:lstStyle xmlns:a="http://schemas.openxmlformats.org/drawingml/2006/main"/>
          <a:p xmlns:a="http://schemas.openxmlformats.org/drawingml/2006/main">
            <a:pPr algn="l">
              <a:defRPr sz="1800">
                <a:solidFill>
                  <a:srgbClr val="F4F7F5"/>
                </a:solidFill>
                <a:latin typeface="Segoe UI"/>
                <a:ea typeface="Segoe UI"/>
                <a:cs typeface="Segoe UI"/>
              </a:defRPr>
            </a:pPr>
            <a:r>
              <a:rPr sz="1600" b="1">
                <a:solidFill>
                  <a:srgbClr val="67E8D3"/>
                </a:solidFill>
                <a:latin typeface="Segoe UI"/>
                <a:ea typeface="Segoe UI"/>
                <a:cs typeface="Segoe UI"/>
              </a:rPr>
              <a:t>PUBLIC DEMO</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hlinkClick xmlns:r="http://schemas.openxmlformats.org/officeDocument/2006/relationships" r:id="R0a896506f6904b81"/>
              </a:rPr>
              <a:t>obol-programmable-money.onrender.com</a:t>
            </a:r>
          </a:p>
          <a:p xmlns:a="http://schemas.openxmlformats.org/drawingml/2006/main">
            <a:pPr algn="l">
              <a:defRPr sz="1800">
                <a:solidFill>
                  <a:srgbClr val="F4F7F5"/>
                </a:solidFill>
                <a:latin typeface="Segoe UI"/>
                <a:ea typeface="Segoe UI"/>
                <a:cs typeface="Segoe UI"/>
              </a:defRPr>
            </a:pPr>
            <a:r>
              <a:rPr sz="1600" b="1">
                <a:solidFill>
                  <a:srgbClr val="67E8D3"/>
                </a:solidFill>
                <a:latin typeface="Segoe UI"/>
                <a:ea typeface="Segoe UI"/>
                <a:cs typeface="Segoe UI"/>
              </a:rPr>
              <a:t>PUBLIC CODE</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hlinkClick xmlns:r="http://schemas.openxmlformats.org/officeDocument/2006/relationships" r:id="R7860cecda0834568"/>
              </a:rPr>
              <a:t>github.com/xiangchengzilema/obol-programmable-money</a:t>
            </a:r>
          </a:p>
          <a:p xmlns:a="http://schemas.openxmlformats.org/drawingml/2006/main">
            <a:pPr algn="l">
              <a:defRPr sz="1800">
                <a:solidFill>
                  <a:srgbClr val="F4F7F5"/>
                </a:solidFill>
                <a:latin typeface="Segoe UI"/>
                <a:ea typeface="Segoe UI"/>
                <a:cs typeface="Segoe UI"/>
              </a:defRPr>
            </a:pPr>
            <a:r>
              <a:rPr sz="1600" b="1">
                <a:solidFill>
                  <a:srgbClr val="67E8D3"/>
                </a:solidFill>
                <a:latin typeface="Segoe UI"/>
                <a:ea typeface="Segoe UI"/>
                <a:cs typeface="Segoe UI"/>
              </a:rPr>
              <a:t>99-SECOND DEMO</a:t>
            </a:r>
          </a:p>
          <a:p xmlns:a="http://schemas.openxmlformats.org/drawingml/2006/main">
            <a:pPr algn="l">
              <a:defRPr sz="1800">
                <a:solidFill>
                  <a:srgbClr val="F4F7F5"/>
                </a:solidFill>
                <a:latin typeface="Segoe UI"/>
                <a:ea typeface="Segoe UI"/>
                <a:cs typeface="Segoe UI"/>
              </a:defRPr>
            </a:pPr>
            <a:r>
              <a:rPr sz="1600">
                <a:solidFill>
                  <a:srgbClr val="F4F7F5"/>
                </a:solidFill>
                <a:latin typeface="Segoe UI"/>
                <a:ea typeface="Segoe UI"/>
                <a:cs typeface="Segoe UI"/>
                <a:hlinkClick xmlns:r="http://schemas.openxmlformats.org/officeDocument/2006/relationships" r:id="Rd03a15e7139b456d"/>
              </a:rPr>
              <a:t>Final MP4 in the public repository</a:t>
            </a:r>
          </a:p>
          <a:p xmlns:a="http://schemas.openxmlformats.org/drawingml/2006/main">
            <a:pPr algn="l">
              <a:defRPr sz="1800">
                <a:solidFill>
                  <a:srgbClr val="F4F7F5"/>
                </a:solidFill>
                <a:latin typeface="Segoe UI"/>
                <a:ea typeface="Segoe UI"/>
                <a:cs typeface="Segoe UI"/>
              </a:defRPr>
            </a:pPr>
            <a:r>
              <a:rPr sz="1600">
                <a:solidFill>
                  <a:srgbClr val="9FB3B7"/>
                </a:solidFill>
                <a:latin typeface="Segoe UI"/>
                <a:ea typeface="Segoe UI"/>
                <a:cs typeface="Segoe UI"/>
              </a:rPr>
              <a:t>Public playground: forced mock · Live evidence: separate Arc Testnet evaluation.</a:t>
            </a:r>
          </a:p>
        </p:txBody>
      </p:sp>
      <p:sp>
        <p:nvSpPr>
          <p:cNvPr id="5" name="settlement-mode-label">
            <a:extLst xmlns:a="http://schemas.openxmlformats.org/drawingml/2006/main">
              <a:ext uri="{FF2B5EF4-FFF2-40B4-BE49-F238E27FC236}">
                <a16:creationId xmlns:a16="http://schemas.microsoft.com/office/drawing/2014/main" id="{0EFDF585-FD9D-418E-A650-121C6B0FB796}"/>
              </a:ext>
            </a:extLst>
          </p:cNvPr>
          <p:cNvSpPr>
            <a:spLocks xmlns:a="http://schemas.openxmlformats.org/drawingml/2006/main" noGrp="1"/>
          </p:cNvSpPr>
          <p:nvPr/>
        </p:nvSpPr>
        <p:spPr>
          <a:xfrm xmlns:a="http://schemas.openxmlformats.org/drawingml/2006/main">
            <a:off x="8020050" y="495300"/>
            <a:ext cx="3562350" cy="381000"/>
          </a:xfrm>
          <a:prstGeom xmlns:a="http://schemas.openxmlformats.org/drawingml/2006/main" prst="roundRect">
            <a:avLst>
              <a:gd name="adj" fmla="val 45000"/>
            </a:avLst>
          </a:prstGeom>
          <a:solidFill xmlns:a="http://schemas.openxmlformats.org/drawingml/2006/main">
            <a:srgbClr val="0C1A22"/>
          </a:solidFill>
          <a:ln xmlns:a="http://schemas.openxmlformats.org/drawingml/2006/main" w="9525">
            <a:solidFill>
              <a:srgbClr val="67E8D3"/>
            </a:solidFill>
            <a:prstDash val="solid"/>
          </a:ln>
        </p:spPr>
        <p:txBody>
          <a:bodyPr xmlns:a="http://schemas.openxmlformats.org/drawingml/2006/main" wrap="square" lIns="114300" tIns="38100" rIns="114300" bIns="38100" anchor="ctr">
            <a:noAutofit/>
          </a:bodyPr>
          <a:lstStyle xmlns:a="http://schemas.openxmlformats.org/drawingml/2006/main"/>
          <a:p xmlns:a="http://schemas.openxmlformats.org/drawingml/2006/main">
            <a:pPr algn="ctr">
              <a:lnSpc>
                <a:spcPct val="100000"/>
              </a:lnSpc>
              <a:buNone/>
              <a:defRPr sz="1200" b="1">
                <a:solidFill>
                  <a:srgbClr val="67E8D3"/>
                </a:solidFill>
                <a:latin typeface="Segoe UI"/>
                <a:ea typeface="Segoe UI"/>
                <a:cs typeface="Segoe UI"/>
              </a:defRPr>
            </a:pPr>
            <a:r>
              <a:rPr sz="1200" b="1">
                <a:solidFill>
                  <a:srgbClr val="67E8D3"/>
                </a:solidFill>
                <a:latin typeface="Segoe UI"/>
                <a:ea typeface="Segoe UI"/>
                <a:cs typeface="Segoe UI"/>
              </a:rPr>
              <a:t>AGENTIC ECONOMY  ·  SOLO BUILDER</a:t>
            </a:r>
          </a:p>
        </p:txBody>
      </p:sp>
    </p:spTree>
    <p:extLst>
      <p:ext uri="{BB962C8B-B14F-4D97-AF65-F5344CB8AC3E}">
        <p14:creationId xmlns:p14="http://schemas.microsoft.com/office/powerpoint/2010/main" val="10273478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342900" dist="138686" dir="4443276">
              <a:srgbClr val="000000">
                <a:alpha val="36000"/>
              </a:srgbClr>
            </a:outerShdw>
          </a:effectLst>
        </a:effectStyle>
        <a:effectStyle>
          <a:effectLst>
            <a:outerShdw blurRad="342900" dist="138686" dir="4443276">
              <a:srgbClr val="000000">
                <a:alpha val="3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2026-08-07T12:39:45.4060000Z</dcterms:created>
  <dcterms:modified xsi:type="dcterms:W3CDTF">2026-08-07T12:39:45.4060000Z</dcterms:modified>
</coreProperties>
</file>