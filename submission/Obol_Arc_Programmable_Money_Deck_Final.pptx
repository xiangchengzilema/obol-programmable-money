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7ee5c021a4387" /><Relationship Type="http://schemas.openxmlformats.org/officeDocument/2006/relationships/extended-properties" Target="/docProps/app.xml" Id="R3ab8da70eda840cf" /><Relationship Type="http://schemas.openxmlformats.org/officeDocument/2006/relationships/officeDocument" Target="/ppt/presentation.xml" Id="R1aeb8d2c06134f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312c48c1e4d5c"/>
  </p:sldMasterIdLst>
  <p:notesMasterIdLst>
    <p:notesMasterId xmlns:r="http://schemas.openxmlformats.org/officeDocument/2006/relationships" r:id="Rd1338de679704d55"/>
  </p:notesMasterIdLst>
  <p:sldIdLst>
    <p:sldId xmlns:r="http://schemas.openxmlformats.org/officeDocument/2006/relationships" id="256" r:id="R398207a3ca984929"/>
    <p:sldId xmlns:r="http://schemas.openxmlformats.org/officeDocument/2006/relationships" id="257" r:id="Rf99edbb298154ee5"/>
    <p:sldId xmlns:r="http://schemas.openxmlformats.org/officeDocument/2006/relationships" id="258" r:id="Re6ca47e616114687"/>
    <p:sldId xmlns:r="http://schemas.openxmlformats.org/officeDocument/2006/relationships" id="259" r:id="R741f1e3ee78f4c88"/>
    <p:sldId xmlns:r="http://schemas.openxmlformats.org/officeDocument/2006/relationships" id="260" r:id="R96a44576c0c647a4"/>
    <p:sldId xmlns:r="http://schemas.openxmlformats.org/officeDocument/2006/relationships" id="261" r:id="Ree8a39e6725949a6"/>
    <p:sldId xmlns:r="http://schemas.openxmlformats.org/officeDocument/2006/relationships" id="262" r:id="R46d13422ed0141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2a43a8bce4d0a" /><Relationship Type="http://schemas.openxmlformats.org/officeDocument/2006/relationships/slideMaster" Target="/ppt/slideMasters/slideMaster1.xml" Id="R4fb312c48c1e4d5c" /><Relationship Type="http://schemas.openxmlformats.org/officeDocument/2006/relationships/notesMaster" Target="/ppt/notesMasters/notesMaster1.xml" Id="Rd1338de679704d55" /><Relationship Type="http://schemas.openxmlformats.org/officeDocument/2006/relationships/presProps" Target="/ppt/presProps.xml" Id="Re51b9ccd5f0f4775" /><Relationship Type="http://schemas.openxmlformats.org/officeDocument/2006/relationships/tableStyles" Target="/ppt/tableStyles.xml" Id="R038d28e1601f40f3" /><Relationship Type="http://schemas.openxmlformats.org/officeDocument/2006/relationships/slide" Target="/ppt/slides/slide1.xml" Id="R398207a3ca984929" /><Relationship Type="http://schemas.openxmlformats.org/officeDocument/2006/relationships/slide" Target="/ppt/slides/slide2.xml" Id="Rf99edbb298154ee5" /><Relationship Type="http://schemas.openxmlformats.org/officeDocument/2006/relationships/slide" Target="/ppt/slides/slide3.xml" Id="Re6ca47e616114687" /><Relationship Type="http://schemas.openxmlformats.org/officeDocument/2006/relationships/slide" Target="/ppt/slides/slide4.xml" Id="R741f1e3ee78f4c88" /><Relationship Type="http://schemas.openxmlformats.org/officeDocument/2006/relationships/slide" Target="/ppt/slides/slide5.xml" Id="R96a44576c0c647a4" /><Relationship Type="http://schemas.openxmlformats.org/officeDocument/2006/relationships/slide" Target="/ppt/slides/slide6.xml" Id="Ree8a39e6725949a6" /><Relationship Type="http://schemas.openxmlformats.org/officeDocument/2006/relationships/slide" Target="/ppt/slides/slide7.xml" Id="R46d13422ed0141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aff971f401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b02e42ab0469a" /><Relationship Type="http://schemas.openxmlformats.org/officeDocument/2006/relationships/notesMaster" Target="/ppt/notesMasters/notesMaster1.xml" Id="R07da83c9a8be40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429d88c5e34bb9" /><Relationship Type="http://schemas.openxmlformats.org/officeDocument/2006/relationships/notesMaster" Target="/ppt/notesMasters/notesMaster1.xml" Id="R609bd38436d5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f0c246c6ba414a" /><Relationship Type="http://schemas.openxmlformats.org/officeDocument/2006/relationships/notesMaster" Target="/ppt/notesMasters/notesMaster1.xml" Id="R3a0853482d1349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e93c4fc5994760" /><Relationship Type="http://schemas.openxmlformats.org/officeDocument/2006/relationships/notesMaster" Target="/ppt/notesMasters/notesMaster1.xml" Id="Rf280601cc6af4a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d0cd9fdf14234" /><Relationship Type="http://schemas.openxmlformats.org/officeDocument/2006/relationships/notesMaster" Target="/ppt/notesMasters/notesMaster1.xml" Id="R971b7cb4b26143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339d23e2814a8f" /><Relationship Type="http://schemas.openxmlformats.org/officeDocument/2006/relationships/notesMaster" Target="/ppt/notesMasters/notesMaster1.xml" Id="R27673bc0391a40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41d5459e1942a4" /><Relationship Type="http://schemas.openxmlformats.org/officeDocument/2006/relationships/notesMaster" Target="/ppt/notesMasters/notesMaster1.xml" Id="Rd0c427924e2b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Obol turns each paid read into a programmable decision: authorize, settle, and 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https://obol-programmable-money.onrender.com</a:t>
            </a:r>
          </a:p>
          <a:p xmlns:a="http://schemas.openxmlformats.org/drawingml/2006/main">
            <a:r>
              <a:t>- https://github.com/xiangchengzilema/obol-programmable-money</a:t>
            </a:r>
          </a:p>
          <a:p xmlns:a="http://schemas.openxmlformats.org/drawingml/2006/main">
            <a:r>
              <a:t>- https://github.com/xiangchengzilema/obol-programmable-money/blob/main/evidence/arc-testnet-agent-run-20260806.json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innovation is not a prettier checkout. It is accountable agency: the buyer has a bounded budget, a relevance threshold, a price cap, and a complete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https://github.com/xiangchengzilema/obol-programmable-money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is a real capture from the current Obol build. The public playground stays fail-closed in mock mode; the published evaluation receipt is re-verified server-side against Arc Testnet RPC.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https://obol-programmable-money.onrender.com</a:t>
            </a:r>
          </a:p>
          <a:p xmlns:a="http://schemas.openxmlformats.org/drawingml/2006/main">
            <a:r>
              <a:t>- https://github.com/xiangchengzilema/obol-programmable-money/blob/main/evidence/arc-testnet-agent-run-20260806.json</a:t>
            </a:r>
          </a:p>
          <a:p xmlns:a="http://schemas.openxmlformats.org/drawingml/2006/main">
            <a:r>
              <a:t>- https://testnet.arcscan.app/tx/0x03a7e7c96283b545798d101d46a4fb48865bcb069fdba2311352fe9e56b92809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ranks sources, authorizes only the reads that pass policy, settles them, and leaves a record a person can audit. Reuse is explicit and does not create fake creator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https://github.com/xiangchengzilema/obol-programmable-money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disclosed testnet evaluation transfer, not organic usage, production revenue, or a mainnet payment. The policy spent one cent, preserved four cents, and met its 60% coverage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https://github.com/xiangchengzilema/obol-programmable-money/blob/main/evidence/arc-testnet-agent-run-20260806.json</a:t>
            </a:r>
          </a:p>
          <a:p xmlns:a="http://schemas.openxmlformats.org/drawingml/2006/main">
            <a:r>
              <a:t>- https://testnet.arcscan.app/tx/0x03a7e7c96283b545798d101d46a4fb48865bcb069fdba2311352fe9e56b92809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verifier does more than check for a successful transaction. It requires the published evidence to match the Arc transaction payer and token contract, the USDC Transfer recipient and amount, and the receipt block and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https://docs.arc.io/arc/references/connect-to-arc</a:t>
            </a:r>
          </a:p>
          <a:p xmlns:a="http://schemas.openxmlformats.org/drawingml/2006/main">
            <a:r>
              <a:t>- https://developers.circle.com/stablecoins/usdc-contract-addresses</a:t>
            </a:r>
          </a:p>
          <a:p xmlns:a="http://schemas.openxmlformats.org/drawingml/2006/main">
            <a:r>
              <a:t>- https://github.com/xiangchengzilema/obol-programmable-money/blob/main/backend/arc_verifier.py</a:t>
            </a:r>
          </a:p>
          <a:p xmlns:a="http://schemas.openxmlformats.org/drawingml/2006/main">
            <a:r>
              <a:t>- https://github.com/xiangchengzilema/obol-programmable-money/blob/main/evidence/arc-testnet-agent-run-20260806.json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and repository are public. Add the final pitch-video URL to the submission form after recording; none is fabricated in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https://obol-programmable-money.onrender.com</a:t>
            </a:r>
          </a:p>
          <a:p xmlns:a="http://schemas.openxmlformats.org/drawingml/2006/main">
            <a:r>
              <a:t>- https://github.com/xiangchengzilema/obol-programmable-money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02f818d7143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f0a9e4724d4e77" /><Relationship Type="http://schemas.openxmlformats.org/officeDocument/2006/relationships/slideLayout" Target="/ppt/slideLayouts/slideLayout1.xml" Id="Rdedb7cdbf560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b7cdbf560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1af39ca9d4de2" /><Relationship Type="http://schemas.openxmlformats.org/officeDocument/2006/relationships/image" Target="/ppt/media/image.png" Id="R34597e950c414a06" /><Relationship Type="http://schemas.openxmlformats.org/officeDocument/2006/relationships/notesSlide" Target="/ppt/notesSlides/notesSlide1.xml" Id="R2f9a3256792042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23f1a95874783" /><Relationship Type="http://schemas.openxmlformats.org/officeDocument/2006/relationships/notesSlide" Target="/ppt/notesSlides/notesSlide2.xml" Id="Recef65ed54854c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bb6ecf13e4e9e" /><Relationship Type="http://schemas.openxmlformats.org/officeDocument/2006/relationships/image" Target="/ppt/media/image2.png" Id="Ree867d26066f4df8" /><Relationship Type="http://schemas.openxmlformats.org/officeDocument/2006/relationships/notesSlide" Target="/ppt/notesSlides/notesSlide3.xml" Id="R5a14b87b87a3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c2704722142d4" /><Relationship Type="http://schemas.openxmlformats.org/officeDocument/2006/relationships/notesSlide" Target="/ppt/notesSlides/notesSlide4.xml" Id="Rc26134b3fb7d45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40ec134314a57" /><Relationship Type="http://schemas.openxmlformats.org/officeDocument/2006/relationships/notesSlide" Target="/ppt/notesSlides/notesSlide5.xml" Id="Rff4c6ff2b87f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89c34cfa443cb" /><Relationship Type="http://schemas.openxmlformats.org/officeDocument/2006/relationships/image" Target="/ppt/media/image3.png" Id="Rec323733efb1476a" /><Relationship Type="http://schemas.openxmlformats.org/officeDocument/2006/relationships/notesSlide" Target="/ppt/notesSlides/notesSlide6.xml" Id="R938257fb3bbe49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0f6cd8ed545a2" /><Relationship Type="http://schemas.openxmlformats.org/officeDocument/2006/relationships/notesSlide" Target="/ppt/notesSlides/notesSlide7.xml" Id="R624f9ed36b8542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F1DA4DE9-61C9-48A9-B008-36885C4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Obol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1A94A8C-440B-49A4-BA1A-C0E8270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pay-per-read for AI agents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E1BBBE8-D758-45D9-B532-B2E4469C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· AGENTIC ECONOMY</a:t>
            </a:r>
          </a:p>
        </p:txBody>
      </p:sp>
      <p:sp>
        <p:nvSpPr>
          <p:cNvPr id="4" name="orbit-contrast-field">
            <a:extLst xmlns:a="http://schemas.openxmlformats.org/drawingml/2006/main">
              <a:ext uri="{FF2B5EF4-FFF2-40B4-BE49-F238E27FC236}">
                <a16:creationId xmlns:a16="http://schemas.microsoft.com/office/drawing/2014/main" id="{8F8A1537-CD3A-4E5D-B17F-DEEE761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4476750" cy="481012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71014"/>
          </a:solidFill>
          <a:ln xmlns:a="http://schemas.openxmlformats.org/drawingml/2006/main" w="9525">
            <a:solidFill>
              <a:srgbClr val="163039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97e950c414a06"/>
          <a:stretch xmlns:a="http://schemas.openxmlformats.org/drawingml/2006/main"/>
        </p:blipFill>
        <p:spPr>
          <a:xfrm xmlns:a="http://schemas.openxmlformats.org/drawingml/2006/main">
            <a:off x="7524750" y="161925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settlement-mode-label">
            <a:extLst xmlns:a="http://schemas.openxmlformats.org/drawingml/2006/main">
              <a:ext uri="{FF2B5EF4-FFF2-40B4-BE49-F238E27FC236}">
                <a16:creationId xmlns:a16="http://schemas.microsoft.com/office/drawing/2014/main" id="{6903A784-C3F8-415C-9848-F1D8775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6479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91418"/>
          </a:solidFill>
          <a:ln xmlns:a="http://schemas.openxmlformats.org/drawingml/2006/main" w="9525">
            <a:solidFill>
              <a:srgbClr val="38E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E8C6"/>
                </a:solidFill>
              </a:defRPr>
            </a:pPr>
            <a:r>
              <a:rPr sz="1200" b="1">
                <a:solidFill>
                  <a:srgbClr val="38E8C6"/>
                </a:solidFill>
              </a:rPr>
              <a:t>PUBLIC DEMO · ARC PROOF READY</a:t>
            </a:r>
          </a:p>
        </p:txBody>
      </p:sp>
    </p:spTree>
    <p:extLst>
      <p:ext uri="{BB962C8B-B14F-4D97-AF65-F5344CB8AC3E}">
        <p14:creationId xmlns:p14="http://schemas.microsoft.com/office/powerpoint/2010/main" val="11577267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A715A68-74FD-4B50-A130-D99B2921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E5E743-4255-4E8B-87ED-73E3CCC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can buy information — but it needs rules, not a blank cheque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4A925B4-CD66-4771-AE5C-6E3A0CBD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0AB3557-05C7-4F41-9DC2-83E8A2AB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7ABA7F2-5EA7-466D-9422-155FD88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buys, reuses, skips, or stops under explicit guardrails.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7024CB1-DA21-43D4-92A9-E964D3BA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choice carries a human-readable audit and settlement mode.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D82530C-CD4F-4251-8F0B-72665D3F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F0E5ADC-4D22-4706-9CE4-72167C55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5EBDABD4-0F8B-42DF-8802-C12FB78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FFF3DC8-B831-471F-B5F6-863C49C8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Creators set a per-read price as low as one cent.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A615080-F655-4E17-A080-B0A8FCF8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CEFBCDE1-EEEA-430D-B620-2B476666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missing primitive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Creators cannot price a single machine read. Agents cannot prove why a source was worth paying for. Ordinary subscriptions hide both marginal value and accountability.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Obol turns each read into a policy-governed USDC decision.</a:t>
            </a:r>
          </a:p>
        </p:txBody>
      </p:sp>
      <p:sp>
        <p:nvSpPr>
          <p:cNvPr id="13" name="obol-accent-rule">
            <a:extLst xmlns:a="http://schemas.openxmlformats.org/drawingml/2006/main">
              <a:ext uri="{FF2B5EF4-FFF2-40B4-BE49-F238E27FC236}">
                <a16:creationId xmlns:a16="http://schemas.microsoft.com/office/drawing/2014/main" id="{A93EC76A-CEC9-42BF-9636-0C8FA7A0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C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2413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9B9027A-5565-4380-B3E3-4D7E9058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E76D704-EBC5-4B2E-8907-2242818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proof lives inside the product.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83CEA1F-7147-41DD-9A44-8466E67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67d26066f4d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68BD3C1-5C40-4399-B32E-F561081D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it. Verify it.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 a $0.05 budget, then inspect every buy, skip, and stop decision alongside the receipt.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server checks the transaction hash, payer, USDC contract, recipient, amount, block, and block hash against Arc RPC.</a:t>
            </a:r>
          </a:p>
        </p:txBody>
      </p:sp>
      <p:sp>
        <p:nvSpPr>
          <p:cNvPr id="6" name="settlement-mode-label">
            <a:extLst xmlns:a="http://schemas.openxmlformats.org/drawingml/2006/main">
              <a:ext uri="{FF2B5EF4-FFF2-40B4-BE49-F238E27FC236}">
                <a16:creationId xmlns:a16="http://schemas.microsoft.com/office/drawing/2014/main" id="{62F736D4-9ACF-4CC7-BD94-2EA1F30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48300"/>
            <a:ext cx="5238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91418"/>
          </a:solidFill>
          <a:ln xmlns:a="http://schemas.openxmlformats.org/drawingml/2006/main" w="9525">
            <a:solidFill>
              <a:srgbClr val="38E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E8C6"/>
                </a:solidFill>
              </a:defRPr>
            </a:pPr>
            <a:r>
              <a:rPr sz="1200" b="1">
                <a:solidFill>
                  <a:srgbClr val="38E8C6"/>
                </a:solidFill>
              </a:rPr>
              <a:t>ARC TESTNET · LIVE RPC CONFIRMED</a:t>
            </a:r>
          </a:p>
        </p:txBody>
      </p:sp>
    </p:spTree>
    <p:extLst>
      <p:ext uri="{BB962C8B-B14F-4D97-AF65-F5344CB8AC3E}">
        <p14:creationId xmlns:p14="http://schemas.microsoft.com/office/powerpoint/2010/main" val="1884274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F531978-375B-4DB4-9D6F-C21EAA2F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F2350BB-E05A-4068-A97B-F545FFD6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request becomes a priced, explainable, auditable transaction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1854244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110EA72-008C-42E5-9F69-7AB8E57C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2FCDC4F-C4DA-45E5-B5DE-074FAE0B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B385C47-E4AB-4E0C-AD8E-24A00C21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617F3F0-430D-43CE-9E02-D3331115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SCORE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2EDB68D-3C73-43B3-B54A-33D53731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SETTLE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11E5688-2536-4664-A75C-5F1F8AB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RECEIPT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871ED63-DDA4-468A-A19F-7DC9CFFF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policy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Enforce reserve, max price, min relevance, and purchase count.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9FC3FB8-846A-4DE6-AAFA-6D62731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 value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 relevance per dollar and detect redundant coverage.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D6CCE58-14E2-461B-85ED-564EB444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outcome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answer, receipt, balances, rule ID, and stop reason.</a:t>
            </a:r>
          </a:p>
        </p:txBody>
      </p:sp>
      <p:sp>
        <p:nvSpPr>
          <p:cNvPr id="13" name="obol-accent-rule">
            <a:extLst xmlns:a="http://schemas.openxmlformats.org/drawingml/2006/main">
              <a:ext uri="{FF2B5EF4-FFF2-40B4-BE49-F238E27FC236}">
                <a16:creationId xmlns:a16="http://schemas.microsoft.com/office/drawing/2014/main" id="{86AA9DE4-246B-4CCB-BA83-8DB2172A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C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7567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F884AF2-C046-4B2A-9D0D-A8DD39A1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4EC5709-F6BA-4679-83E1-60E73F1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5981BE0-2738-412B-8565-E5745B31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AA2D31D-8EA3-4E0E-B13D-379EB0E1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F7F3B62-8091-4C5C-B14C-0EBFDD3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cent bought the evidence; four cents stayed under policy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C4A1F94-7DC1-44EC-8667-AB3082E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Budget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80EC06F-3031-4A95-B0CD-7AF3E7A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D201222-40FA-4ADD-AE42-788B5363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Arc-settled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8760706-6B82-41E4-9CA0-469CF9F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$0.050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F4AF150-6E7E-46BE-A238-8B917C94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$0.010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282DC21-4C50-424C-9AB6-9EA013D5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$0.040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6D706A7B-2C56-46EF-A828-B6811D3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Arc Testnet run · 2026-08-06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0x03a7e7c9…2809 settled 0.010000 USDC in block 55,584,226. The agent bought one high-relevance source, skipped 20 weak or redundant candidates, and stopped at 67% coverage.</a:t>
            </a:r>
          </a:p>
        </p:txBody>
      </p:sp>
      <p:sp>
        <p:nvSpPr>
          <p:cNvPr id="13" name="settlement-mode-label">
            <a:extLst xmlns:a="http://schemas.openxmlformats.org/drawingml/2006/main">
              <a:ext uri="{FF2B5EF4-FFF2-40B4-BE49-F238E27FC236}">
                <a16:creationId xmlns:a16="http://schemas.microsoft.com/office/drawing/2014/main" id="{3FEB9867-7D55-4921-9EC4-94DFF155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57450"/>
            <a:ext cx="300037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91418"/>
          </a:solidFill>
          <a:ln xmlns:a="http://schemas.openxmlformats.org/drawingml/2006/main" w="9525">
            <a:solidFill>
              <a:srgbClr val="38E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E8C6"/>
                </a:solidFill>
              </a:defRPr>
            </a:pPr>
            <a:r>
              <a:rPr sz="1200" b="1">
                <a:solidFill>
                  <a:srgbClr val="38E8C6"/>
                </a:solidFill>
              </a:rPr>
              <a:t>ARC CONFIRMED · BLOCK 55,584,226</a:t>
            </a:r>
          </a:p>
        </p:txBody>
      </p:sp>
    </p:spTree>
    <p:extLst>
      <p:ext uri="{BB962C8B-B14F-4D97-AF65-F5344CB8AC3E}">
        <p14:creationId xmlns:p14="http://schemas.microsoft.com/office/powerpoint/2010/main" val="5460029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B8795FE-E90E-437D-AD6D-41665B0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42B2A20-736D-4076-B503-E7F3C25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proof binds the receipt to one exact USDC transfer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1A700FF-830F-465C-B585-4BD111F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policy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deterministic policy authorizes spend and preserves a $0.005 reserve.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D035C726-ACFD-49BB-BCB2-529FF771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verifier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Server-side RPC binds payer, USDC contract, recipient, amount, block, block hash, and transaction hash.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8D2D180-6681-49A0-B246-F717281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Circle Wallets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COMPLETE transaction settled 0.010000 USDC from the agent payer to the creator.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23733efb1476a"/>
          <a:stretch xmlns:a="http://schemas.openxmlformats.org/drawingml/2006/main"/>
        </p:blipFill>
        <p:spPr>
          <a:xfrm xmlns:a="http://schemas.openxmlformats.org/drawingml/2006/main">
            <a:off x="7503205" y="1333500"/>
            <a:ext cx="2757714" cy="1809750"/>
          </a:xfrm>
          <a:prstGeom xmlns:a="http://schemas.openxmlformats.org/drawingml/2006/main" prst="roundRect">
            <a:avLst/>
          </a:prstGeom>
        </p:spPr>
      </p:pic>
      <p:sp>
        <p:nvSpPr>
          <p:cNvPr id="7" name="verified-build-proof">
            <a:extLst xmlns:a="http://schemas.openxmlformats.org/drawingml/2006/main">
              <a:ext uri="{FF2B5EF4-FFF2-40B4-BE49-F238E27FC236}">
                <a16:creationId xmlns:a16="http://schemas.microsoft.com/office/drawing/2014/main" id="{84726B0B-0807-4D93-9604-47E4CEF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4307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46 backend tests passed</a:t>
            </a:r>
          </a:p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Strict evidence match · health 200 · x402 402→200</a:t>
            </a:r>
          </a:p>
        </p:txBody>
      </p:sp>
    </p:spTree>
    <p:extLst>
      <p:ext uri="{BB962C8B-B14F-4D97-AF65-F5344CB8AC3E}">
        <p14:creationId xmlns:p14="http://schemas.microsoft.com/office/powerpoint/2010/main" val="5828252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5D0C2E96-1D7F-47C4-90AE-2ADCE11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Agents read.
Creators get paid.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EA278AD-3CC3-4636-B6DA-9B876C8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DEMO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CODE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ECONOMY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3C5AC08-A907-4DBD-8A08-4EEF400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 STATUS</a:t>
            </a:r>
          </a:p>
        </p:txBody>
      </p:sp>
      <p:sp>
        <p:nvSpPr>
          <p:cNvPr id="4" name="submission-links">
            <a:extLst xmlns:a="http://schemas.openxmlformats.org/drawingml/2006/main">
              <a:ext uri="{FF2B5EF4-FFF2-40B4-BE49-F238E27FC236}">
                <a16:creationId xmlns:a16="http://schemas.microsoft.com/office/drawing/2014/main" id="{C7A146D2-BB5D-4013-9010-8AAF142B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738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obol-programmable-money.onrender.com</a:t>
            </a:r>
          </a:p>
          <a:p xmlns:a="http://schemas.openxmlformats.org/drawingml/2006/main">
            <a:pPr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github.com/xiangchengzilema/obol-programmable-money</a:t>
            </a:r>
          </a:p>
          <a:p xmlns:a="http://schemas.openxmlformats.org/drawingml/2006/main">
            <a:pPr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Pitch video: final upload pending</a:t>
            </a:r>
          </a:p>
        </p:txBody>
      </p:sp>
      <p:sp>
        <p:nvSpPr>
          <p:cNvPr id="5" name="settlement-mode-label">
            <a:extLst xmlns:a="http://schemas.openxmlformats.org/drawingml/2006/main">
              <a:ext uri="{FF2B5EF4-FFF2-40B4-BE49-F238E27FC236}">
                <a16:creationId xmlns:a16="http://schemas.microsoft.com/office/drawing/2014/main" id="{0EFDF585-FD9D-418E-A650-121C6B0F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6479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91418"/>
          </a:solidFill>
          <a:ln xmlns:a="http://schemas.openxmlformats.org/drawingml/2006/main" w="9525">
            <a:solidFill>
              <a:srgbClr val="38E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E8C6"/>
                </a:solidFill>
              </a:defRPr>
            </a:pPr>
            <a:r>
              <a:rPr sz="1200" b="1">
                <a:solidFill>
                  <a:srgbClr val="38E8C6"/>
                </a:solidFill>
              </a:rPr>
              <a:t>PUBLIC · ARC PROOF VERIFIED</a:t>
            </a:r>
          </a:p>
        </p:txBody>
      </p:sp>
    </p:spTree>
    <p:extLst>
      <p:ext uri="{BB962C8B-B14F-4D97-AF65-F5344CB8AC3E}">
        <p14:creationId xmlns:p14="http://schemas.microsoft.com/office/powerpoint/2010/main" val="102734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2026-08-06T10:42:14.7420000Z</dcterms:created>
  <dcterms:modified xsi:type="dcterms:W3CDTF">2026-08-06T10:42:14.7420000Z</dcterms:modified>
</coreProperties>
</file>