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94820cb63a412c" /><Relationship Type="http://schemas.openxmlformats.org/officeDocument/2006/relationships/extended-properties" Target="/docProps/app.xml" Id="R96c04e37f7fc42e1" /><Relationship Type="http://schemas.openxmlformats.org/officeDocument/2006/relationships/officeDocument" Target="/ppt/presentation.xml" Id="Re580c13f80b94ae2" /></Relationships>
</file>

<file path=ppt/presentation.xml><?xml version="1.0" encoding="utf-8"?>
<p:presentation xmlns:p="http://schemas.openxmlformats.org/presentationml/2006/main">
  <p:sldMasterIdLst>
    <p:sldMasterId xmlns:r="http://schemas.openxmlformats.org/officeDocument/2006/relationships" id="2147483648" r:id="R2bc45d74361441ad"/>
  </p:sldMasterIdLst>
  <p:notesMasterIdLst>
    <p:notesMasterId xmlns:r="http://schemas.openxmlformats.org/officeDocument/2006/relationships" r:id="R1e67a81bdda146fb"/>
  </p:notesMasterIdLst>
  <p:sldIdLst>
    <p:sldId xmlns:r="http://schemas.openxmlformats.org/officeDocument/2006/relationships" id="256" r:id="R9eab7f21b08c4d88"/>
    <p:sldId xmlns:r="http://schemas.openxmlformats.org/officeDocument/2006/relationships" id="257" r:id="R4536746eb0f54d2a"/>
    <p:sldId xmlns:r="http://schemas.openxmlformats.org/officeDocument/2006/relationships" id="258" r:id="R4b227dafc3d34e43"/>
    <p:sldId xmlns:r="http://schemas.openxmlformats.org/officeDocument/2006/relationships" id="259" r:id="R5bdcdacd0e5744e5"/>
    <p:sldId xmlns:r="http://schemas.openxmlformats.org/officeDocument/2006/relationships" id="260" r:id="R8f935281d66d4b35"/>
    <p:sldId xmlns:r="http://schemas.openxmlformats.org/officeDocument/2006/relationships" id="261" r:id="Re3348f11991342fd"/>
    <p:sldId xmlns:r="http://schemas.openxmlformats.org/officeDocument/2006/relationships" id="262" r:id="Raa772f539904419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37ce31e5e54968" /><Relationship Type="http://schemas.openxmlformats.org/officeDocument/2006/relationships/slideMaster" Target="/ppt/slideMasters/slideMaster1.xml" Id="R2bc45d74361441ad" /><Relationship Type="http://schemas.openxmlformats.org/officeDocument/2006/relationships/notesMaster" Target="/ppt/notesMasters/notesMaster1.xml" Id="R1e67a81bdda146fb" /><Relationship Type="http://schemas.openxmlformats.org/officeDocument/2006/relationships/presProps" Target="/ppt/presProps.xml" Id="R546329d0c9f44559" /><Relationship Type="http://schemas.openxmlformats.org/officeDocument/2006/relationships/tableStyles" Target="/ppt/tableStyles.xml" Id="R327fed0f8d1e421d" /><Relationship Type="http://schemas.openxmlformats.org/officeDocument/2006/relationships/slide" Target="/ppt/slides/slide1.xml" Id="R9eab7f21b08c4d88" /><Relationship Type="http://schemas.openxmlformats.org/officeDocument/2006/relationships/slide" Target="/ppt/slides/slide2.xml" Id="R4536746eb0f54d2a" /><Relationship Type="http://schemas.openxmlformats.org/officeDocument/2006/relationships/slide" Target="/ppt/slides/slide3.xml" Id="R4b227dafc3d34e43" /><Relationship Type="http://schemas.openxmlformats.org/officeDocument/2006/relationships/slide" Target="/ppt/slides/slide4.xml" Id="R5bdcdacd0e5744e5" /><Relationship Type="http://schemas.openxmlformats.org/officeDocument/2006/relationships/slide" Target="/ppt/slides/slide5.xml" Id="R8f935281d66d4b35" /><Relationship Type="http://schemas.openxmlformats.org/officeDocument/2006/relationships/slide" Target="/ppt/slides/slide6.xml" Id="Re3348f11991342fd" /><Relationship Type="http://schemas.openxmlformats.org/officeDocument/2006/relationships/slide" Target="/ppt/slides/slide7.xml" Id="Raa772f53990441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a200a2da4c44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fb8f2279d44456" /><Relationship Type="http://schemas.openxmlformats.org/officeDocument/2006/relationships/notesMaster" Target="/ppt/notesMasters/notesMaster1.xml" Id="R6d00bcb305944e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ebb8671d2e4406" /><Relationship Type="http://schemas.openxmlformats.org/officeDocument/2006/relationships/notesMaster" Target="/ppt/notesMasters/notesMaster1.xml" Id="R5460db0f29de4b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4d538b6aca416d" /><Relationship Type="http://schemas.openxmlformats.org/officeDocument/2006/relationships/notesMaster" Target="/ppt/notesMasters/notesMaster1.xml" Id="R4b422ed7c7ed46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8939fcfba54886" /><Relationship Type="http://schemas.openxmlformats.org/officeDocument/2006/relationships/notesMaster" Target="/ppt/notesMasters/notesMaster1.xml" Id="R28027729f1e14b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4fcd55dbb34805" /><Relationship Type="http://schemas.openxmlformats.org/officeDocument/2006/relationships/notesMaster" Target="/ppt/notesMasters/notesMaster1.xml" Id="R74185d13709b41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866299064c43a6" /><Relationship Type="http://schemas.openxmlformats.org/officeDocument/2006/relationships/notesMaster" Target="/ppt/notesMasters/notesMaster1.xml" Id="R732ceb9448074c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fbf779d13b4ab5" /><Relationship Type="http://schemas.openxmlformats.org/officeDocument/2006/relationships/notesMaster" Target="/ppt/notesMasters/notesMaster1.xml" Id="R2d04412d053e47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agents already consume paid knowledge, but today there is no native way to price one read, protect a budget, pay the creator, and explain the decision. Obol makes that transaction programmable.</a:t>
            </a:r>
          </a:p>
          <a:p xmlns:a="http://schemas.openxmlformats.org/drawingml/2006/main">
            <a:r>
              <a:t/>
            </a:r>
          </a:p>
          <a:p xmlns:a="http://schemas.openxmlformats.org/drawingml/2006/main">
            <a:r>
              <a:t>[Sources]</a:t>
            </a:r>
          </a:p>
          <a:p xmlns:a="http://schemas.openxmlformats.org/drawingml/2006/main">
            <a:r>
              <a:t>- https://github.com/xiangchengzilema/obol-programmable-money</a:t>
            </a:r>
          </a:p>
          <a:p xmlns:a="http://schemas.openxmlformats.org/drawingml/2006/main">
            <a:r>
              <a:t>- Local product artwork: frontend/assets/obol-orbit.svg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innovation is not a prettier checkout. It is accountable agency: the buyer has a bounded budget, a relevance threshold, a price cap, and a complete decision trace.</a:t>
            </a:r>
          </a:p>
          <a:p xmlns:a="http://schemas.openxmlformats.org/drawingml/2006/main">
            <a:r>
              <a:t/>
            </a:r>
          </a:p>
          <a:p xmlns:a="http://schemas.openxmlformats.org/drawingml/2006/main">
            <a:r>
              <a:t>[Sources]</a:t>
            </a:r>
          </a:p>
          <a:p xmlns:a="http://schemas.openxmlformats.org/drawingml/2006/main">
            <a:r>
              <a:t>- https://github.com/xiangchengzilema/obol-programmable-money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site is deliberately safe: it has no Circle or OpenAI secret and clearly reports mock settlement. Judges can still exercise the full policy, x402, receipt, and creator-revenue experience.</a:t>
            </a:r>
          </a:p>
          <a:p xmlns:a="http://schemas.openxmlformats.org/drawingml/2006/main">
            <a:r>
              <a:t/>
            </a:r>
          </a:p>
          <a:p xmlns:a="http://schemas.openxmlformats.org/drawingml/2006/main">
            <a:r>
              <a:t>[Sources]</a:t>
            </a:r>
          </a:p>
          <a:p xmlns:a="http://schemas.openxmlformats.org/drawingml/2006/main">
            <a:r>
              <a:t>- https://obol-programmable-money.onrender.com</a:t>
            </a:r>
          </a:p>
          <a:p xmlns:a="http://schemas.openxmlformats.org/drawingml/2006/main">
            <a:r>
              <a:t>- User-supplied Encode project-page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 ranks sources, authorizes only the reads that pass policy, settles them, and leaves a record a person can audit. Reuse is explicit and does not create fake creator revenue.</a:t>
            </a:r>
          </a:p>
          <a:p xmlns:a="http://schemas.openxmlformats.org/drawingml/2006/main">
            <a:r>
              <a:t/>
            </a:r>
          </a:p>
          <a:p xmlns:a="http://schemas.openxmlformats.org/drawingml/2006/main">
            <a:r>
              <a:t>[Sources]</a:t>
            </a:r>
          </a:p>
          <a:p xmlns:a="http://schemas.openxmlformats.org/drawingml/2006/main">
            <a:r>
              <a:t>- https://github.com/xiangchengzilema/obol-programmable-money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verified demo run, not fabricated traction. Under a five-cent budget, the agent spent one cent on the strongest source and preserved four cents. Every skip explains the policy rule that fired.</a:t>
            </a:r>
          </a:p>
          <a:p xmlns:a="http://schemas.openxmlformats.org/drawingml/2006/main">
            <a:r>
              <a:t/>
            </a:r>
          </a:p>
          <a:p xmlns:a="http://schemas.openxmlformats.org/drawingml/2006/main">
            <a:r>
              <a:t>[Sources]</a:t>
            </a:r>
          </a:p>
          <a:p xmlns:a="http://schemas.openxmlformats.org/drawingml/2006/main">
            <a:r>
              <a:t>- https://obol-programmable-money.onrender.com/api/agent/run</a:t>
            </a:r>
          </a:p>
          <a:p xmlns:a="http://schemas.openxmlformats.org/drawingml/2006/main">
            <a:r>
              <a:t>- Local smoke-test result captured 2026-07-28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demo is intentionally labelled mock and carries no spend authority. The repository also implements the credentialed Circle Wallet path for Arc Testnet. The important property is that the mode is explicit rather than inferred from a transaction-shaped string.</a:t>
            </a:r>
          </a:p>
          <a:p xmlns:a="http://schemas.openxmlformats.org/drawingml/2006/main">
            <a:r>
              <a:t/>
            </a:r>
          </a:p>
          <a:p xmlns:a="http://schemas.openxmlformats.org/drawingml/2006/main">
            <a:r>
              <a:t>[Sources]</a:t>
            </a:r>
          </a:p>
          <a:p xmlns:a="http://schemas.openxmlformats.org/drawingml/2006/main">
            <a:r>
              <a:t>- https://obol-programmable-money.onrender.com/api/settlement/status</a:t>
            </a:r>
          </a:p>
          <a:p xmlns:a="http://schemas.openxmlformats.org/drawingml/2006/main">
            <a:r>
              <a:t>- https://obol-programmable-money.onrender.com/x402/articles/1</a:t>
            </a:r>
          </a:p>
          <a:p xmlns:a="http://schemas.openxmlformats.org/drawingml/2006/main">
            <a:r>
              <a:t>- Local product artwork: frontend/assets/agent-route.svg</a:t>
            </a:r>
          </a:p>
          <a:p xmlns:a="http://schemas.openxmlformats.org/drawingml/2006/main">
            <a:r>
              <a:t>- Local test run: 26 passed on 2026-07-28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Obol gives agents a programmable budget and creators a verifiable reason to be paid. The demo and repository are public, and the project is submitted to Agentic Economy.</a:t>
            </a:r>
          </a:p>
          <a:p xmlns:a="http://schemas.openxmlformats.org/drawingml/2006/main">
            <a:r>
              <a:t/>
            </a:r>
          </a:p>
          <a:p xmlns:a="http://schemas.openxmlformats.org/drawingml/2006/main">
            <a:r>
              <a:t>[Sources]</a:t>
            </a:r>
          </a:p>
          <a:p xmlns:a="http://schemas.openxmlformats.org/drawingml/2006/main">
            <a:r>
              <a:t>- https://obol-programmable-money.onrender.com</a:t>
            </a:r>
          </a:p>
          <a:p xmlns:a="http://schemas.openxmlformats.org/drawingml/2006/main">
            <a:r>
              <a:t>- https://github.com/xiangchengzilema/obol-programmable-money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0104ac66aa42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4d5b39b7974639" /><Relationship Type="http://schemas.openxmlformats.org/officeDocument/2006/relationships/slideLayout" Target="/ppt/slideLayouts/slideLayout1.xml" Id="Rebfc1e9eeaf64c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fc1e9eeaf64c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5f54fa5b07b46ea" /><Relationship Type="http://schemas.openxmlformats.org/officeDocument/2006/relationships/image" Target="/ppt/media/image.png" Id="R430e8e6706064a8d" /><Relationship Type="http://schemas.openxmlformats.org/officeDocument/2006/relationships/notesSlide" Target="/ppt/notesSlides/notesSlide1.xml" Id="Rc8e614da496646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78a961fd6d342ca" /><Relationship Type="http://schemas.openxmlformats.org/officeDocument/2006/relationships/notesSlide" Target="/ppt/notesSlides/notesSlide2.xml" Id="Rf11c4cfaf8a34f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758a9133cb4f0d" /><Relationship Type="http://schemas.openxmlformats.org/officeDocument/2006/relationships/image" Target="/ppt/media/image2.png" Id="Rc4ce3b19d43d4044" /><Relationship Type="http://schemas.openxmlformats.org/officeDocument/2006/relationships/notesSlide" Target="/ppt/notesSlides/notesSlide3.xml" Id="R292e8859093c4b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28b8a64ce64c77" /><Relationship Type="http://schemas.openxmlformats.org/officeDocument/2006/relationships/notesSlide" Target="/ppt/notesSlides/notesSlide4.xml" Id="Rfac2422f2f024a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8bc81c0a5ec4506" /><Relationship Type="http://schemas.openxmlformats.org/officeDocument/2006/relationships/notesSlide" Target="/ppt/notesSlides/notesSlide5.xml" Id="R285361dbe52444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48a734b53984c14" /><Relationship Type="http://schemas.openxmlformats.org/officeDocument/2006/relationships/image" Target="/ppt/media/image3.png" Id="R282733e6241c497a" /><Relationship Type="http://schemas.openxmlformats.org/officeDocument/2006/relationships/notesSlide" Target="/ppt/notesSlides/notesSlide6.xml" Id="R69dae9537ded4b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4d9e10f55a64984" /><Relationship Type="http://schemas.openxmlformats.org/officeDocument/2006/relationships/notesSlide" Target="/ppt/notesSlides/notesSlide7.xml" Id="R60aedf963ad24fe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7" name="Title-3-1">
            <a:extLst xmlns:a="http://schemas.openxmlformats.org/drawingml/2006/main">
              <a:ext uri="{FF2B5EF4-FFF2-40B4-BE49-F238E27FC236}">
                <a16:creationId xmlns:a16="http://schemas.microsoft.com/office/drawing/2014/main" id="{F1DA4DE9-61C9-48A9-B008-36885C463E1D}"/>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Obol</a:t>
            </a:r>
          </a:p>
        </p:txBody>
      </p:sp>
      <p:sp>
        <p:nvSpPr>
          <p:cNvPr id="2" name="Subtitle-4-2">
            <a:extLst xmlns:a="http://schemas.openxmlformats.org/drawingml/2006/main">
              <a:ext uri="{FF2B5EF4-FFF2-40B4-BE49-F238E27FC236}">
                <a16:creationId xmlns:a16="http://schemas.microsoft.com/office/drawing/2014/main" id="{A1A94A8C-440B-49A4-BA1A-C0E82701C2F1}"/>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Programmable pay-per-read for AI agents</a:t>
            </a:r>
          </a:p>
        </p:txBody>
      </p:sp>
      <p:sp>
        <p:nvSpPr>
          <p:cNvPr id="3" name="Subtitle-4-3">
            <a:extLst xmlns:a="http://schemas.openxmlformats.org/drawingml/2006/main">
              <a:ext uri="{FF2B5EF4-FFF2-40B4-BE49-F238E27FC236}">
                <a16:creationId xmlns:a16="http://schemas.microsoft.com/office/drawing/2014/main" id="{6E1BBBE8-D758-45D9-B532-B2E4469CAAAF}"/>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ARC · AGENTIC ECONOMY</a:t>
            </a:r>
          </a:p>
        </p:txBody>
      </p:sp>
      <p:sp>
        <p:nvSpPr>
          <p:cNvPr id="4" name="orbit-contrast-field">
            <a:extLst xmlns:a="http://schemas.openxmlformats.org/drawingml/2006/main">
              <a:ext uri="{FF2B5EF4-FFF2-40B4-BE49-F238E27FC236}">
                <a16:creationId xmlns:a16="http://schemas.microsoft.com/office/drawing/2014/main" id="{8F8A1537-CD3A-4E5D-B17F-DEEE761936DB}"/>
              </a:ext>
            </a:extLst>
          </p:cNvPr>
          <p:cNvSpPr>
            <a:spLocks xmlns:a="http://schemas.openxmlformats.org/drawingml/2006/main" noGrp="1"/>
          </p:cNvSpPr>
          <p:nvPr/>
        </p:nvSpPr>
        <p:spPr>
          <a:xfrm xmlns:a="http://schemas.openxmlformats.org/drawingml/2006/main">
            <a:off x="7239000" y="1285875"/>
            <a:ext cx="4476750" cy="4810125"/>
          </a:xfrm>
          <a:prstGeom xmlns:a="http://schemas.openxmlformats.org/drawingml/2006/main" prst="roundRect">
            <a:avLst>
              <a:gd name="adj" fmla="val 3404"/>
            </a:avLst>
          </a:prstGeom>
          <a:solidFill xmlns:a="http://schemas.openxmlformats.org/drawingml/2006/main">
            <a:srgbClr val="071014"/>
          </a:solidFill>
          <a:ln xmlns:a="http://schemas.openxmlformats.org/drawingml/2006/main" w="9525">
            <a:solidFill>
              <a:srgbClr val="163039"/>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30e8e6706064a8d"/>
          <a:stretch xmlns:a="http://schemas.openxmlformats.org/drawingml/2006/main"/>
        </p:blipFill>
        <p:spPr>
          <a:xfrm xmlns:a="http://schemas.openxmlformats.org/drawingml/2006/main">
            <a:off x="7524750" y="1619250"/>
            <a:ext cx="4095750" cy="4095750"/>
          </a:xfrm>
          <a:prstGeom xmlns:a="http://schemas.openxmlformats.org/drawingml/2006/main" prst="rect">
            <a:avLst/>
          </a:prstGeom>
        </p:spPr>
      </p:pic>
      <p:sp>
        <p:nvSpPr>
          <p:cNvPr id="6" name="settlement-mode-label">
            <a:extLst xmlns:a="http://schemas.openxmlformats.org/drawingml/2006/main">
              <a:ext uri="{FF2B5EF4-FFF2-40B4-BE49-F238E27FC236}">
                <a16:creationId xmlns:a16="http://schemas.microsoft.com/office/drawing/2014/main" id="{6903A784-C3F8-415C-9848-F1D8775F69EC}"/>
              </a:ext>
            </a:extLst>
          </p:cNvPr>
          <p:cNvSpPr>
            <a:spLocks xmlns:a="http://schemas.openxmlformats.org/drawingml/2006/main" noGrp="1"/>
          </p:cNvSpPr>
          <p:nvPr/>
        </p:nvSpPr>
        <p:spPr>
          <a:xfrm xmlns:a="http://schemas.openxmlformats.org/drawingml/2006/main">
            <a:off x="8858250" y="495300"/>
            <a:ext cx="2647950" cy="381000"/>
          </a:xfrm>
          <a:prstGeom xmlns:a="http://schemas.openxmlformats.org/drawingml/2006/main" prst="roundRect">
            <a:avLst>
              <a:gd name="adj" fmla="val 30000"/>
            </a:avLst>
          </a:prstGeom>
          <a:solidFill xmlns:a="http://schemas.openxmlformats.org/drawingml/2006/main">
            <a:srgbClr val="091418"/>
          </a:solidFill>
          <a:ln xmlns:a="http://schemas.openxmlformats.org/drawingml/2006/main" w="9525">
            <a:solidFill>
              <a:srgbClr val="38E8C6"/>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38E8C6"/>
                </a:solidFill>
              </a:defRPr>
            </a:pPr>
            <a:r>
              <a:rPr sz="1200" b="1">
                <a:solidFill>
                  <a:srgbClr val="38E8C6"/>
                </a:solidFill>
              </a:rPr>
              <a:t>PUBLIC DEMO · SAFE MOCK MODE</a:t>
            </a:r>
          </a:p>
        </p:txBody>
      </p:sp>
    </p:spTree>
    <p:extLst>
      <p:ext uri="{BB962C8B-B14F-4D97-AF65-F5344CB8AC3E}">
        <p14:creationId xmlns:p14="http://schemas.microsoft.com/office/powerpoint/2010/main" val="115772676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4" name="Google-Shape-532-p58-2">
            <a:extLst xmlns:a="http://schemas.openxmlformats.org/drawingml/2006/main">
              <a:ext uri="{FF2B5EF4-FFF2-40B4-BE49-F238E27FC236}">
                <a16:creationId xmlns:a16="http://schemas.microsoft.com/office/drawing/2014/main" id="{EA715A68-74FD-4B50-A130-D99B29219EB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2" name="Google-Shape-533-p58-3">
            <a:extLst xmlns:a="http://schemas.openxmlformats.org/drawingml/2006/main">
              <a:ext uri="{FF2B5EF4-FFF2-40B4-BE49-F238E27FC236}">
                <a16:creationId xmlns:a16="http://schemas.microsoft.com/office/drawing/2014/main" id="{E4E5E743-4255-4E8B-87ED-73E3CCCD76D2}"/>
              </a:ext>
            </a:extLst>
          </p:cNvPr>
          <p:cNvSpPr>
            <a:spLocks xmlns:a="http://schemas.openxmlformats.org/drawingml/2006/main" noGrp="1"/>
          </p:cNvSpPr>
          <p:nvPr/>
        </p:nvSpPr>
        <p:spPr>
          <a:xfrm xmlns:a="http://schemas.openxmlformats.org/drawingml/2006/main">
            <a:off x="393668" y="344519"/>
            <a:ext cx="11404568" cy="1283018"/>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AI can buy information — but it needs rules, not a blank cheque</a:t>
            </a:r>
          </a:p>
        </p:txBody>
      </p:sp>
      <p:sp>
        <p:nvSpPr>
          <p:cNvPr id="3" name="Rounded-Rectangle-9-4">
            <a:extLst xmlns:a="http://schemas.openxmlformats.org/drawingml/2006/main">
              <a:ext uri="{FF2B5EF4-FFF2-40B4-BE49-F238E27FC236}">
                <a16:creationId xmlns:a16="http://schemas.microsoft.com/office/drawing/2014/main" id="{C4A925B4-CD66-4771-AE5C-6E3A0CBDDD39}"/>
              </a:ext>
            </a:extLst>
          </p:cNvPr>
          <p:cNvSpPr>
            <a:spLocks xmlns:a="http://schemas.openxmlformats.org/drawingml/2006/main" noGrp="1"/>
          </p:cNvSpPr>
          <p:nvPr/>
        </p:nvSpPr>
        <p:spPr>
          <a:xfrm xmlns:a="http://schemas.openxmlformats.org/drawingml/2006/main">
            <a:off x="430892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4" name="Rounded-Rectangle-10-5">
            <a:extLst xmlns:a="http://schemas.openxmlformats.org/drawingml/2006/main">
              <a:ext uri="{FF2B5EF4-FFF2-40B4-BE49-F238E27FC236}">
                <a16:creationId xmlns:a16="http://schemas.microsoft.com/office/drawing/2014/main" id="{20AB3557-05C7-4F41-9DC2-83E8A2ABEC0D}"/>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5" name="Content-Placeholder-9-6">
            <a:extLst xmlns:a="http://schemas.openxmlformats.org/drawingml/2006/main">
              <a:ext uri="{FF2B5EF4-FFF2-40B4-BE49-F238E27FC236}">
                <a16:creationId xmlns:a16="http://schemas.microsoft.com/office/drawing/2014/main" id="{47ABA7F2-5EA7-466D-9422-155FD8839070}"/>
              </a:ext>
            </a:extLst>
          </p:cNvPr>
          <p:cNvSpPr>
            <a:spLocks xmlns:a="http://schemas.openxmlformats.org/drawingml/2006/main" noGrp="1"/>
          </p:cNvSpPr>
          <p:nvPr/>
        </p:nvSpPr>
        <p:spPr>
          <a:xfrm xmlns:a="http://schemas.openxmlformats.org/drawingml/2006/main">
            <a:off x="4621816"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DECIDE</a:t>
            </a:r>
          </a:p>
          <a:p xmlns:a="http://schemas.openxmlformats.org/drawingml/2006/main">
            <a:pPr algn="l">
              <a:defRPr sz="2400">
                <a:solidFill>
                  <a:srgbClr val="000000"/>
                </a:solidFill>
                <a:latin typeface="Helvetica Neue"/>
                <a:ea typeface="Helvetica Neue"/>
                <a:cs typeface="Helvetica Neue"/>
              </a:defRPr>
            </a:pPr>
            <a:r>
              <a:t>The agent buys, reuses, skips, or stops under explicit guardrails.</a:t>
            </a:r>
          </a:p>
        </p:txBody>
      </p:sp>
      <p:sp>
        <p:nvSpPr>
          <p:cNvPr id="6" name="Content-Placeholder-10-7">
            <a:extLst xmlns:a="http://schemas.openxmlformats.org/drawingml/2006/main">
              <a:ext uri="{FF2B5EF4-FFF2-40B4-BE49-F238E27FC236}">
                <a16:creationId xmlns:a16="http://schemas.microsoft.com/office/drawing/2014/main" id="{77024CB1-DA21-43D4-92A9-E964D3BA1E47}"/>
              </a:ext>
            </a:extLst>
          </p:cNvPr>
          <p:cNvSpPr>
            <a:spLocks xmlns:a="http://schemas.openxmlformats.org/drawingml/2006/main" noGrp="1"/>
          </p:cNvSpPr>
          <p:nvPr/>
        </p:nvSpPr>
        <p:spPr>
          <a:xfrm xmlns:a="http://schemas.openxmlformats.org/drawingml/2006/main">
            <a:off x="853611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PROVE</a:t>
            </a:r>
          </a:p>
          <a:p xmlns:a="http://schemas.openxmlformats.org/drawingml/2006/main">
            <a:pPr algn="l">
              <a:defRPr sz="2400">
                <a:solidFill>
                  <a:srgbClr val="000000"/>
                </a:solidFill>
                <a:latin typeface="Helvetica Neue"/>
                <a:ea typeface="Helvetica Neue"/>
                <a:cs typeface="Helvetica Neue"/>
              </a:defRPr>
            </a:pPr>
            <a:r>
              <a:t>Every choice carries a human-readable audit and settlement mode.</a:t>
            </a:r>
          </a:p>
        </p:txBody>
      </p:sp>
      <p:sp>
        <p:nvSpPr>
          <p:cNvPr id="7" name="Google-Shape-340-p61-8">
            <a:extLst xmlns:a="http://schemas.openxmlformats.org/drawingml/2006/main">
              <a:ext uri="{FF2B5EF4-FFF2-40B4-BE49-F238E27FC236}">
                <a16:creationId xmlns:a16="http://schemas.microsoft.com/office/drawing/2014/main" id="{5D82530C-CD4F-4251-8F0B-72665D3FC8D7}"/>
              </a:ext>
            </a:extLst>
          </p:cNvPr>
          <p:cNvSpPr>
            <a:spLocks xmlns:a="http://schemas.openxmlformats.org/drawingml/2006/main" noGrp="1"/>
          </p:cNvSpPr>
          <p:nvPr/>
        </p:nvSpPr>
        <p:spPr>
          <a:xfrm xmlns:a="http://schemas.openxmlformats.org/drawingml/2006/main">
            <a:off x="4627626"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8" name="Google-Shape-340-p61-9">
            <a:extLst xmlns:a="http://schemas.openxmlformats.org/drawingml/2006/main">
              <a:ext uri="{FF2B5EF4-FFF2-40B4-BE49-F238E27FC236}">
                <a16:creationId xmlns:a16="http://schemas.microsoft.com/office/drawing/2014/main" id="{AF0E5ADC-4D22-4706-9CE4-72167C55FFD0}"/>
              </a:ext>
            </a:extLst>
          </p:cNvPr>
          <p:cNvSpPr>
            <a:spLocks xmlns:a="http://schemas.openxmlformats.org/drawingml/2006/main" noGrp="1"/>
          </p:cNvSpPr>
          <p:nvPr/>
        </p:nvSpPr>
        <p:spPr>
          <a:xfrm xmlns:a="http://schemas.openxmlformats.org/drawingml/2006/main">
            <a:off x="8533257"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Rounded-Rectangle-5-10">
            <a:extLst xmlns:a="http://schemas.openxmlformats.org/drawingml/2006/main">
              <a:ext uri="{FF2B5EF4-FFF2-40B4-BE49-F238E27FC236}">
                <a16:creationId xmlns:a16="http://schemas.microsoft.com/office/drawing/2014/main" id="{5EBDABD4-0F8B-42DF-8802-C12FB787E1F1}"/>
              </a:ext>
            </a:extLst>
          </p:cNvPr>
          <p:cNvSpPr>
            <a:spLocks xmlns:a="http://schemas.openxmlformats.org/drawingml/2006/main" noGrp="1"/>
          </p:cNvSpPr>
          <p:nvPr/>
        </p:nvSpPr>
        <p:spPr>
          <a:xfrm xmlns:a="http://schemas.openxmlformats.org/drawingml/2006/main">
            <a:off x="388334"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10" name="Content-Placeholder-9-11">
            <a:extLst xmlns:a="http://schemas.openxmlformats.org/drawingml/2006/main">
              <a:ext uri="{FF2B5EF4-FFF2-40B4-BE49-F238E27FC236}">
                <a16:creationId xmlns:a16="http://schemas.microsoft.com/office/drawing/2014/main" id="{AFFF3DC8-B831-471F-B5F6-863C49C8682D}"/>
              </a:ext>
            </a:extLst>
          </p:cNvPr>
          <p:cNvSpPr>
            <a:spLocks xmlns:a="http://schemas.openxmlformats.org/drawingml/2006/main" noGrp="1"/>
          </p:cNvSpPr>
          <p:nvPr/>
        </p:nvSpPr>
        <p:spPr>
          <a:xfrm xmlns:a="http://schemas.openxmlformats.org/drawingml/2006/main">
            <a:off x="70113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PRICE</a:t>
            </a:r>
          </a:p>
          <a:p xmlns:a="http://schemas.openxmlformats.org/drawingml/2006/main">
            <a:pPr algn="l">
              <a:defRPr sz="2400">
                <a:solidFill>
                  <a:srgbClr val="000000"/>
                </a:solidFill>
                <a:latin typeface="Helvetica Neue"/>
                <a:ea typeface="Helvetica Neue"/>
                <a:cs typeface="Helvetica Neue"/>
              </a:defRPr>
            </a:pPr>
            <a:r>
              <a:t>Creators set a per-read price as low as one cent.</a:t>
            </a:r>
          </a:p>
        </p:txBody>
      </p:sp>
      <p:sp>
        <p:nvSpPr>
          <p:cNvPr id="11" name="Google-Shape-340-p61-12">
            <a:extLst xmlns:a="http://schemas.openxmlformats.org/drawingml/2006/main">
              <a:ext uri="{FF2B5EF4-FFF2-40B4-BE49-F238E27FC236}">
                <a16:creationId xmlns:a16="http://schemas.microsoft.com/office/drawing/2014/main" id="{4A615080-F655-4E17-A080-B0A8FCF8F890}"/>
              </a:ext>
            </a:extLst>
          </p:cNvPr>
          <p:cNvSpPr>
            <a:spLocks xmlns:a="http://schemas.openxmlformats.org/drawingml/2006/main" noGrp="1"/>
          </p:cNvSpPr>
          <p:nvPr/>
        </p:nvSpPr>
        <p:spPr>
          <a:xfrm xmlns:a="http://schemas.openxmlformats.org/drawingml/2006/main">
            <a:off x="707041"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2" name="Content-Placeholder-15-13">
            <a:extLst xmlns:a="http://schemas.openxmlformats.org/drawingml/2006/main">
              <a:ext uri="{FF2B5EF4-FFF2-40B4-BE49-F238E27FC236}">
                <a16:creationId xmlns:a16="http://schemas.microsoft.com/office/drawing/2014/main" id="{CEFBCDE1-EEEA-430D-B620-2B47666631F4}"/>
              </a:ext>
            </a:extLst>
          </p:cNvPr>
          <p:cNvSpPr>
            <a:spLocks xmlns:a="http://schemas.openxmlformats.org/drawingml/2006/main" noGrp="1"/>
          </p:cNvSpPr>
          <p:nvPr/>
        </p:nvSpPr>
        <p:spPr>
          <a:xfrm xmlns:a="http://schemas.openxmlformats.org/drawingml/2006/main">
            <a:off x="393668" y="1450562"/>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The missing primitive</a:t>
            </a:r>
          </a:p>
          <a:p xmlns:a="http://schemas.openxmlformats.org/drawingml/2006/main">
            <a:pPr algn="l">
              <a:defRPr sz="1600">
                <a:solidFill>
                  <a:srgbClr val="000000"/>
                </a:solidFill>
                <a:latin typeface="Helvetica Neue"/>
                <a:ea typeface="Helvetica Neue"/>
                <a:cs typeface="Helvetica Neue"/>
              </a:defRPr>
            </a:pPr>
            <a:r>
              <a:t>Creators cannot price a single machine read. Agents cannot prove why a source was worth paying for. Ordinary subscriptions hide both marginal value and accountability.</a:t>
            </a:r>
          </a:p>
          <a:p xmlns:a="http://schemas.openxmlformats.org/drawingml/2006/main">
            <a:pPr algn="l">
              <a:defRPr sz="1600">
                <a:solidFill>
                  <a:srgbClr val="000000"/>
                </a:solidFill>
                <a:latin typeface="Helvetica Neue"/>
                <a:ea typeface="Helvetica Neue"/>
                <a:cs typeface="Helvetica Neue"/>
              </a:defRPr>
            </a:pPr>
            <a:r>
              <a:t>Obol turns each read into a policy-governed USDC decision.</a:t>
            </a:r>
          </a:p>
        </p:txBody>
      </p:sp>
      <p:sp>
        <p:nvSpPr>
          <p:cNvPr id="13" name="obol-accent-rule">
            <a:extLst xmlns:a="http://schemas.openxmlformats.org/drawingml/2006/main">
              <a:ext uri="{FF2B5EF4-FFF2-40B4-BE49-F238E27FC236}">
                <a16:creationId xmlns:a16="http://schemas.microsoft.com/office/drawing/2014/main" id="{A93EC76A-CEC9-42BF-9636-0C8FA7A00267}"/>
              </a:ext>
            </a:extLst>
          </p:cNvPr>
          <p:cNvSpPr>
            <a:spLocks xmlns:a="http://schemas.openxmlformats.org/drawingml/2006/main" noGrp="1"/>
          </p:cNvSpPr>
          <p:nvPr/>
        </p:nvSpPr>
        <p:spPr>
          <a:xfrm xmlns:a="http://schemas.openxmlformats.org/drawingml/2006/main">
            <a:off x="393668" y="1695450"/>
            <a:ext cx="914400" cy="47625"/>
          </a:xfrm>
          <a:prstGeom xmlns:a="http://schemas.openxmlformats.org/drawingml/2006/main" prst="rect">
            <a:avLst/>
          </a:prstGeom>
          <a:solidFill xmlns:a="http://schemas.openxmlformats.org/drawingml/2006/main">
            <a:srgbClr val="38E8C6"/>
          </a:solidFill>
          <a:ln xmlns:a="http://schemas.openxmlformats.org/drawingml/2006/main" w="0">
            <a:noFill/>
            <a:prstDash val="solid"/>
          </a:ln>
        </p:spPr>
      </p:sp>
    </p:spTree>
    <p:extLst>
      <p:ext uri="{BB962C8B-B14F-4D97-AF65-F5344CB8AC3E}">
        <p14:creationId xmlns:p14="http://schemas.microsoft.com/office/powerpoint/2010/main" val="140241392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 name="Google-Shape-532-p58-2">
            <a:extLst xmlns:a="http://schemas.openxmlformats.org/drawingml/2006/main">
              <a:ext uri="{FF2B5EF4-FFF2-40B4-BE49-F238E27FC236}">
                <a16:creationId xmlns:a16="http://schemas.microsoft.com/office/drawing/2014/main" id="{C9B9027A-5565-4380-B3E3-4D7E9058390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2" name="Google-Shape-533-p58-3">
            <a:extLst xmlns:a="http://schemas.openxmlformats.org/drawingml/2006/main">
              <a:ext uri="{FF2B5EF4-FFF2-40B4-BE49-F238E27FC236}">
                <a16:creationId xmlns:a16="http://schemas.microsoft.com/office/drawing/2014/main" id="{AE76D704-EBC5-4B2E-8907-2242818AF8BA}"/>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One URL. Full agent flow.</a:t>
            </a:r>
          </a:p>
        </p:txBody>
      </p:sp>
      <p:sp>
        <p:nvSpPr>
          <p:cNvPr id="3" name="Picture-3-4-backing">
            <a:extLst xmlns:a="http://schemas.openxmlformats.org/drawingml/2006/main">
              <a:ext uri="{FF2B5EF4-FFF2-40B4-BE49-F238E27FC236}">
                <a16:creationId xmlns:a16="http://schemas.microsoft.com/office/drawing/2014/main" id="{083CEA1F-7147-41DD-9A44-8466E674A69B}"/>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pic>
        <p:nvPicPr>
          <p:cNvPr id="10" name="Picture-3-4"/>
          <p:cNvPicPr>
            <a:picLocks xmlns:a="http://schemas.openxmlformats.org/drawingml/2006/main" noChangeAspect="1"/>
          </p:cNvPicPr>
          <p:nvPr/>
        </p:nvPicPr>
        <p:blipFill>
          <a:blip xmlns:r="http://schemas.openxmlformats.org/officeDocument/2006/relationships" xmlns:a="http://schemas.openxmlformats.org/drawingml/2006/main" r:embed="Rc4ce3b19d43d4044"/>
          <a:srcRect xmlns:a="http://schemas.openxmlformats.org/drawingml/2006/main" l="23974" t="0" r="23974" b="0"/>
          <a:stretch xmlns:a="http://schemas.openxmlformats.org/drawingml/2006/main">
            <a:fillRect l="0" t="0" r="0" b="0"/>
          </a:stretch>
        </p:blipFill>
        <p:spPr>
          <a:xfrm xmlns:a="http://schemas.openxmlformats.org/drawingml/2006/main">
            <a:off x="6269069" y="396431"/>
            <a:ext cx="5539740" cy="5602034"/>
          </a:xfrm>
          <a:prstGeom xmlns:a="http://schemas.openxmlformats.org/drawingml/2006/main" prst="roundRect">
            <a:avLst/>
          </a:prstGeom>
        </p:spPr>
      </p:pic>
      <p:sp>
        <p:nvSpPr>
          <p:cNvPr id="5" name="Google-Shape-534-p58-5">
            <a:extLst xmlns:a="http://schemas.openxmlformats.org/drawingml/2006/main">
              <a:ext uri="{FF2B5EF4-FFF2-40B4-BE49-F238E27FC236}">
                <a16:creationId xmlns:a16="http://schemas.microsoft.com/office/drawing/2014/main" id="{D68BD3C1-5C40-4399-B32E-F561081DD62B}"/>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Ask once. Inspect everything.</a:t>
            </a:r>
          </a:p>
          <a:p xmlns:a="http://schemas.openxmlformats.org/drawingml/2006/main">
            <a:pPr algn="l">
              <a:defRPr sz="2400">
                <a:solidFill>
                  <a:srgbClr val="000000"/>
                </a:solidFill>
                <a:latin typeface="Helvetica Neue"/>
                <a:ea typeface="Helvetica Neue"/>
                <a:cs typeface="Helvetica Neue"/>
              </a:defRPr>
            </a:pPr>
            <a:r>
              <a:t>Set a USDC budget and policy, run the agent, then inspect sources, receipts, remaining budget, and the exact rule behind every buy or skip.
The browser is a judge-friendly surface; the same system is callable through the native Agent API and an x402 endpoint.</a:t>
            </a:r>
          </a:p>
        </p:txBody>
      </p:sp>
      <p:sp>
        <p:nvSpPr>
          <p:cNvPr id="6" name="settlement-mode-label">
            <a:extLst xmlns:a="http://schemas.openxmlformats.org/drawingml/2006/main">
              <a:ext uri="{FF2B5EF4-FFF2-40B4-BE49-F238E27FC236}">
                <a16:creationId xmlns:a16="http://schemas.microsoft.com/office/drawing/2014/main" id="{62F736D4-9ACF-4CC7-BD94-2EA1F30C6AA7}"/>
              </a:ext>
            </a:extLst>
          </p:cNvPr>
          <p:cNvSpPr>
            <a:spLocks xmlns:a="http://schemas.openxmlformats.org/drawingml/2006/main" noGrp="1"/>
          </p:cNvSpPr>
          <p:nvPr/>
        </p:nvSpPr>
        <p:spPr>
          <a:xfrm xmlns:a="http://schemas.openxmlformats.org/drawingml/2006/main">
            <a:off x="390525" y="5448300"/>
            <a:ext cx="5238750" cy="381000"/>
          </a:xfrm>
          <a:prstGeom xmlns:a="http://schemas.openxmlformats.org/drawingml/2006/main" prst="roundRect">
            <a:avLst>
              <a:gd name="adj" fmla="val 30000"/>
            </a:avLst>
          </a:prstGeom>
          <a:solidFill xmlns:a="http://schemas.openxmlformats.org/drawingml/2006/main">
            <a:srgbClr val="091418"/>
          </a:solidFill>
          <a:ln xmlns:a="http://schemas.openxmlformats.org/drawingml/2006/main" w="9525">
            <a:solidFill>
              <a:srgbClr val="38E8C6"/>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38E8C6"/>
                </a:solidFill>
              </a:defRPr>
            </a:pPr>
            <a:r>
              <a:rPr sz="1200" b="1">
                <a:solidFill>
                  <a:srgbClr val="38E8C6"/>
                </a:solidFill>
              </a:rPr>
              <a:t>LIVE: obol-programmable-money.onrender.com</a:t>
            </a:r>
          </a:p>
        </p:txBody>
      </p:sp>
    </p:spTree>
    <p:extLst>
      <p:ext uri="{BB962C8B-B14F-4D97-AF65-F5344CB8AC3E}">
        <p14:creationId xmlns:p14="http://schemas.microsoft.com/office/powerpoint/2010/main" val="188427489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4" name="Slide-Number-Placeholder-3-2">
            <a:extLst xmlns:a="http://schemas.openxmlformats.org/drawingml/2006/main">
              <a:ext uri="{FF2B5EF4-FFF2-40B4-BE49-F238E27FC236}">
                <a16:creationId xmlns:a16="http://schemas.microsoft.com/office/drawing/2014/main" id="{2F531978-375B-4DB4-9D6F-C21EAA2FCC7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2" name="Title-10-3">
            <a:extLst xmlns:a="http://schemas.openxmlformats.org/drawingml/2006/main">
              <a:ext uri="{FF2B5EF4-FFF2-40B4-BE49-F238E27FC236}">
                <a16:creationId xmlns:a16="http://schemas.microsoft.com/office/drawing/2014/main" id="{DF2350BB-E05A-4068-A97B-F545FFD6B24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One request becomes a priced, explainable, auditable transaction</a:t>
            </a:r>
          </a:p>
        </p:txBody>
      </p:sp>
      <p:cxnSp>
        <p:nvCxnSpPr>
          <p:cNvPr id="16" name="Google-Shape-2259-p159-4"/>
          <p:cNvCxnSpPr/>
          <p:nvPr/>
        </p:nvCxnSpPr>
        <p:spPr>
          <a:xfrm xmlns:a="http://schemas.openxmlformats.org/drawingml/2006/main">
            <a:off x="337757" y="3373755"/>
            <a:ext cx="11854244"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0110EA72-008C-42E5-9F69-7AB8E57C7E52}"/>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F2FCDC4F-C4DA-45E5-B5DE-074FAE0B62B0}"/>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FB385C47-E4AB-4E0C-AD8E-24A00C211BB6}"/>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7617F3F0-430D-43CE-9E02-D333111588C5}"/>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01 · SCORE</a:t>
            </a:r>
          </a:p>
        </p:txBody>
      </p:sp>
      <p:sp>
        <p:nvSpPr>
          <p:cNvPr id="8" name="Content-Placeholder-15-9">
            <a:extLst xmlns:a="http://schemas.openxmlformats.org/drawingml/2006/main">
              <a:ext uri="{FF2B5EF4-FFF2-40B4-BE49-F238E27FC236}">
                <a16:creationId xmlns:a16="http://schemas.microsoft.com/office/drawing/2014/main" id="{82EDB68D-3C73-43B3-B54A-33D537312F6E}"/>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02 · SETTLE</a:t>
            </a:r>
          </a:p>
        </p:txBody>
      </p:sp>
      <p:sp>
        <p:nvSpPr>
          <p:cNvPr id="9" name="Content-Placeholder-15-10">
            <a:extLst xmlns:a="http://schemas.openxmlformats.org/drawingml/2006/main">
              <a:ext uri="{FF2B5EF4-FFF2-40B4-BE49-F238E27FC236}">
                <a16:creationId xmlns:a16="http://schemas.microsoft.com/office/drawing/2014/main" id="{C11E5688-2536-4664-A75C-5F1F8ABFC068}"/>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03 · RECEIPT</a:t>
            </a:r>
          </a:p>
        </p:txBody>
      </p:sp>
      <p:sp>
        <p:nvSpPr>
          <p:cNvPr id="10" name="Text-Placeholder-16-11">
            <a:extLst xmlns:a="http://schemas.openxmlformats.org/drawingml/2006/main">
              <a:ext uri="{FF2B5EF4-FFF2-40B4-BE49-F238E27FC236}">
                <a16:creationId xmlns:a16="http://schemas.microsoft.com/office/drawing/2014/main" id="{4871ED63-DDA4-468A-A19F-7DC9CFFFD496}"/>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Apply policy</a:t>
            </a:r>
          </a:p>
          <a:p xmlns:a="http://schemas.openxmlformats.org/drawingml/2006/main">
            <a:pPr algn="l">
              <a:defRPr sz="2400">
                <a:solidFill>
                  <a:srgbClr val="000000"/>
                </a:solidFill>
                <a:latin typeface="Helvetica Neue"/>
                <a:ea typeface="Helvetica Neue"/>
                <a:cs typeface="Helvetica Neue"/>
              </a:defRPr>
            </a:pPr>
            <a:r>
              <a:t>Enforce reserve, max price, min relevance, and purchase count.</a:t>
            </a:r>
          </a:p>
        </p:txBody>
      </p:sp>
      <p:sp>
        <p:nvSpPr>
          <p:cNvPr id="11" name="Text-Placeholder-16-12">
            <a:extLst xmlns:a="http://schemas.openxmlformats.org/drawingml/2006/main">
              <a:ext uri="{FF2B5EF4-FFF2-40B4-BE49-F238E27FC236}">
                <a16:creationId xmlns:a16="http://schemas.microsoft.com/office/drawing/2014/main" id="{D9FC3FB8-846A-4DE6-AAFA-6D6273179DB0}"/>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Rank value</a:t>
            </a:r>
          </a:p>
          <a:p xmlns:a="http://schemas.openxmlformats.org/drawingml/2006/main">
            <a:pPr algn="l">
              <a:defRPr sz="2400">
                <a:solidFill>
                  <a:srgbClr val="000000"/>
                </a:solidFill>
                <a:latin typeface="Helvetica Neue"/>
                <a:ea typeface="Helvetica Neue"/>
                <a:cs typeface="Helvetica Neue"/>
              </a:defRPr>
            </a:pPr>
            <a:r>
              <a:t>Score relevance per dollar and detect redundant coverage.</a:t>
            </a:r>
          </a:p>
        </p:txBody>
      </p:sp>
      <p:sp>
        <p:nvSpPr>
          <p:cNvPr id="12" name="Text-Placeholder-16-13">
            <a:extLst xmlns:a="http://schemas.openxmlformats.org/drawingml/2006/main">
              <a:ext uri="{FF2B5EF4-FFF2-40B4-BE49-F238E27FC236}">
                <a16:creationId xmlns:a16="http://schemas.microsoft.com/office/drawing/2014/main" id="{BD6CCE58-14E2-461B-85ED-564EB4441626}"/>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Explain outcome</a:t>
            </a:r>
          </a:p>
          <a:p xmlns:a="http://schemas.openxmlformats.org/drawingml/2006/main">
            <a:pPr algn="l">
              <a:defRPr sz="2400">
                <a:solidFill>
                  <a:srgbClr val="000000"/>
                </a:solidFill>
                <a:latin typeface="Helvetica Neue"/>
                <a:ea typeface="Helvetica Neue"/>
                <a:cs typeface="Helvetica Neue"/>
              </a:defRPr>
            </a:pPr>
            <a:r>
              <a:t>Return answer, receipt, balances, rule ID, and stop reason.</a:t>
            </a:r>
          </a:p>
        </p:txBody>
      </p:sp>
      <p:sp>
        <p:nvSpPr>
          <p:cNvPr id="13" name="obol-accent-rule">
            <a:extLst xmlns:a="http://schemas.openxmlformats.org/drawingml/2006/main">
              <a:ext uri="{FF2B5EF4-FFF2-40B4-BE49-F238E27FC236}">
                <a16:creationId xmlns:a16="http://schemas.microsoft.com/office/drawing/2014/main" id="{86AA9DE4-246B-4CCB-BA83-8DB2172AA3BE}"/>
              </a:ext>
            </a:extLst>
          </p:cNvPr>
          <p:cNvSpPr>
            <a:spLocks xmlns:a="http://schemas.openxmlformats.org/drawingml/2006/main" noGrp="1"/>
          </p:cNvSpPr>
          <p:nvPr/>
        </p:nvSpPr>
        <p:spPr>
          <a:xfrm xmlns:a="http://schemas.openxmlformats.org/drawingml/2006/main">
            <a:off x="393668" y="1428750"/>
            <a:ext cx="914400" cy="47625"/>
          </a:xfrm>
          <a:prstGeom xmlns:a="http://schemas.openxmlformats.org/drawingml/2006/main" prst="rect">
            <a:avLst/>
          </a:prstGeom>
          <a:solidFill xmlns:a="http://schemas.openxmlformats.org/drawingml/2006/main">
            <a:srgbClr val="38E8C6"/>
          </a:solidFill>
          <a:ln xmlns:a="http://schemas.openxmlformats.org/drawingml/2006/main" w="0">
            <a:noFill/>
            <a:prstDash val="solid"/>
          </a:ln>
        </p:spPr>
      </p:sp>
    </p:spTree>
    <p:extLst>
      <p:ext uri="{BB962C8B-B14F-4D97-AF65-F5344CB8AC3E}">
        <p14:creationId xmlns:p14="http://schemas.microsoft.com/office/powerpoint/2010/main" val="71756776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4" name="Rounded-Rectangle-5-1">
            <a:extLst xmlns:a="http://schemas.openxmlformats.org/drawingml/2006/main">
              <a:ext uri="{FF2B5EF4-FFF2-40B4-BE49-F238E27FC236}">
                <a16:creationId xmlns:a16="http://schemas.microsoft.com/office/drawing/2014/main" id="{DF884AF2-C046-4B2A-9D0D-A8DD39A1AADF}"/>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74EC5709-F6BA-4679-83E1-60E73F110F28}"/>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85981BE0-2738-412B-8565-E5745B318CDF}"/>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6AA2D31D-8EA3-4E0E-B13D-379EB0E1A95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5</a:t>
            </a:r>
          </a:p>
        </p:txBody>
      </p:sp>
      <p:sp>
        <p:nvSpPr>
          <p:cNvPr id="5" name="Title-2-5">
            <a:extLst xmlns:a="http://schemas.openxmlformats.org/drawingml/2006/main">
              <a:ext uri="{FF2B5EF4-FFF2-40B4-BE49-F238E27FC236}">
                <a16:creationId xmlns:a16="http://schemas.microsoft.com/office/drawing/2014/main" id="{4F7F3B62-8091-4C5C-B14C-0EBFDD30766F}"/>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policy protected 80% of the test budget while still buying evidence</a:t>
            </a:r>
          </a:p>
        </p:txBody>
      </p:sp>
      <p:sp>
        <p:nvSpPr>
          <p:cNvPr id="6" name="Content-Placeholder-9-6">
            <a:extLst xmlns:a="http://schemas.openxmlformats.org/drawingml/2006/main">
              <a:ext uri="{FF2B5EF4-FFF2-40B4-BE49-F238E27FC236}">
                <a16:creationId xmlns:a16="http://schemas.microsoft.com/office/drawing/2014/main" id="{CC4A1F94-7DC1-44EC-8667-AB3082E38F8D}"/>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Starting budget</a:t>
            </a:r>
          </a:p>
        </p:txBody>
      </p:sp>
      <p:sp>
        <p:nvSpPr>
          <p:cNvPr id="7" name="Content-Placeholder-10-7">
            <a:extLst xmlns:a="http://schemas.openxmlformats.org/drawingml/2006/main">
              <a:ext uri="{FF2B5EF4-FFF2-40B4-BE49-F238E27FC236}">
                <a16:creationId xmlns:a16="http://schemas.microsoft.com/office/drawing/2014/main" id="{D80EC06F-3031-4A95-B0CD-7AF3E7ABF8FC}"/>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Budget remaining</a:t>
            </a:r>
          </a:p>
        </p:txBody>
      </p:sp>
      <p:sp>
        <p:nvSpPr>
          <p:cNvPr id="8" name="Content-Placeholder-11-8">
            <a:extLst xmlns:a="http://schemas.openxmlformats.org/drawingml/2006/main">
              <a:ext uri="{FF2B5EF4-FFF2-40B4-BE49-F238E27FC236}">
                <a16:creationId xmlns:a16="http://schemas.microsoft.com/office/drawing/2014/main" id="{AD201222-40FA-4ADD-AE42-788B5363A9F0}"/>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Authorized spend</a:t>
            </a:r>
          </a:p>
        </p:txBody>
      </p:sp>
      <p:sp>
        <p:nvSpPr>
          <p:cNvPr id="9" name="Content-Placeholder-9-9">
            <a:extLst xmlns:a="http://schemas.openxmlformats.org/drawingml/2006/main">
              <a:ext uri="{FF2B5EF4-FFF2-40B4-BE49-F238E27FC236}">
                <a16:creationId xmlns:a16="http://schemas.microsoft.com/office/drawing/2014/main" id="{48760706-6B82-41E4-9CA0-469CF9F33400}"/>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$0.050</a:t>
            </a:r>
          </a:p>
        </p:txBody>
      </p:sp>
      <p:sp>
        <p:nvSpPr>
          <p:cNvPr id="10" name="Content-Placeholder-9-10">
            <a:extLst xmlns:a="http://schemas.openxmlformats.org/drawingml/2006/main">
              <a:ext uri="{FF2B5EF4-FFF2-40B4-BE49-F238E27FC236}">
                <a16:creationId xmlns:a16="http://schemas.microsoft.com/office/drawing/2014/main" id="{AF4AF150-6E7E-46BE-A238-8B917C945E51}"/>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$0.010</a:t>
            </a:r>
          </a:p>
        </p:txBody>
      </p:sp>
      <p:sp>
        <p:nvSpPr>
          <p:cNvPr id="11" name="Content-Placeholder-9-11">
            <a:extLst xmlns:a="http://schemas.openxmlformats.org/drawingml/2006/main">
              <a:ext uri="{FF2B5EF4-FFF2-40B4-BE49-F238E27FC236}">
                <a16:creationId xmlns:a16="http://schemas.microsoft.com/office/drawing/2014/main" id="{7282DC21-4C50-424C-9AB6-9EA013D50389}"/>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$0.040</a:t>
            </a:r>
          </a:p>
        </p:txBody>
      </p:sp>
      <p:sp>
        <p:nvSpPr>
          <p:cNvPr id="12" name="Content-Placeholder-15-12">
            <a:extLst xmlns:a="http://schemas.openxmlformats.org/drawingml/2006/main">
              <a:ext uri="{FF2B5EF4-FFF2-40B4-BE49-F238E27FC236}">
                <a16:creationId xmlns:a16="http://schemas.microsoft.com/office/drawing/2014/main" id="{6D706A7B-2C56-46EF-A828-B6811D3CE809}"/>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Verified public run · 2026-07-28</a:t>
            </a:r>
          </a:p>
          <a:p xmlns:a="http://schemas.openxmlformats.org/drawingml/2006/main">
            <a:pPr algn="l">
              <a:defRPr sz="1600">
                <a:solidFill>
                  <a:srgbClr val="000000"/>
                </a:solidFill>
                <a:latin typeface="Helvetica Neue"/>
                <a:ea typeface="Helvetica Neue"/>
                <a:cs typeface="Helvetica Neue"/>
              </a:defRPr>
            </a:pPr>
            <a:r>
              <a:t>Query: Arc testnet predictable fees for AI paid reads. The agent bought one high-relevance source, skipped redundant or low-value candidates, and stopped with a complete audit.</a:t>
            </a:r>
          </a:p>
        </p:txBody>
      </p:sp>
      <p:sp>
        <p:nvSpPr>
          <p:cNvPr id="13" name="settlement-mode-label">
            <a:extLst xmlns:a="http://schemas.openxmlformats.org/drawingml/2006/main">
              <a:ext uri="{FF2B5EF4-FFF2-40B4-BE49-F238E27FC236}">
                <a16:creationId xmlns:a16="http://schemas.microsoft.com/office/drawing/2014/main" id="{3FEB9867-7D55-4921-9EC4-94DFF1556960}"/>
              </a:ext>
            </a:extLst>
          </p:cNvPr>
          <p:cNvSpPr>
            <a:spLocks xmlns:a="http://schemas.openxmlformats.org/drawingml/2006/main" noGrp="1"/>
          </p:cNvSpPr>
          <p:nvPr/>
        </p:nvSpPr>
        <p:spPr>
          <a:xfrm xmlns:a="http://schemas.openxmlformats.org/drawingml/2006/main">
            <a:off x="390525" y="2457450"/>
            <a:ext cx="3000375" cy="381000"/>
          </a:xfrm>
          <a:prstGeom xmlns:a="http://schemas.openxmlformats.org/drawingml/2006/main" prst="roundRect">
            <a:avLst>
              <a:gd name="adj" fmla="val 30000"/>
            </a:avLst>
          </a:prstGeom>
          <a:solidFill xmlns:a="http://schemas.openxmlformats.org/drawingml/2006/main">
            <a:srgbClr val="091418"/>
          </a:solidFill>
          <a:ln xmlns:a="http://schemas.openxmlformats.org/drawingml/2006/main" w="9525">
            <a:solidFill>
              <a:srgbClr val="38E8C6"/>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38E8C6"/>
                </a:solidFill>
              </a:defRPr>
            </a:pPr>
            <a:r>
              <a:rPr sz="1200" b="1">
                <a:solidFill>
                  <a:srgbClr val="38E8C6"/>
                </a:solidFill>
              </a:rPr>
              <a:t>RESERVE PROTECTED · $0.005</a:t>
            </a:r>
          </a:p>
        </p:txBody>
      </p:sp>
    </p:spTree>
    <p:extLst>
      <p:ext uri="{BB962C8B-B14F-4D97-AF65-F5344CB8AC3E}">
        <p14:creationId xmlns:p14="http://schemas.microsoft.com/office/powerpoint/2010/main" val="54600293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8" name="Google-Shape-532-p58-2">
            <a:extLst xmlns:a="http://schemas.openxmlformats.org/drawingml/2006/main">
              <a:ext uri="{FF2B5EF4-FFF2-40B4-BE49-F238E27FC236}">
                <a16:creationId xmlns:a16="http://schemas.microsoft.com/office/drawing/2014/main" id="{7B8795FE-E90E-437D-AD6D-41665B050C11}"/>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6</a:t>
            </a:r>
          </a:p>
        </p:txBody>
      </p:sp>
      <p:sp>
        <p:nvSpPr>
          <p:cNvPr id="2" name="Google-Shape-533-p58-3">
            <a:extLst xmlns:a="http://schemas.openxmlformats.org/drawingml/2006/main">
              <a:ext uri="{FF2B5EF4-FFF2-40B4-BE49-F238E27FC236}">
                <a16:creationId xmlns:a16="http://schemas.microsoft.com/office/drawing/2014/main" id="{D42B2A20-736D-4076-B503-E7F3C257ED10}"/>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Arc and Circle make one-cent machine purchases economically legible</a:t>
            </a:r>
          </a:p>
        </p:txBody>
      </p:sp>
      <p:sp>
        <p:nvSpPr>
          <p:cNvPr id="3" name="Google-Shape-534-p58-4">
            <a:extLst xmlns:a="http://schemas.openxmlformats.org/drawingml/2006/main">
              <a:ext uri="{FF2B5EF4-FFF2-40B4-BE49-F238E27FC236}">
                <a16:creationId xmlns:a16="http://schemas.microsoft.com/office/drawing/2014/main" id="{81A700FF-830F-465C-B585-4BD111F36293}"/>
              </a:ext>
            </a:extLst>
          </p:cNvPr>
          <p:cNvSpPr>
            <a:spLocks xmlns:a="http://schemas.openxmlformats.org/drawingml/2006/main" noGrp="1"/>
          </p:cNvSpPr>
          <p:nvPr/>
        </p:nvSpPr>
        <p:spPr>
          <a:xfrm xmlns:a="http://schemas.openxmlformats.org/drawingml/2006/main">
            <a:off x="393668" y="3365468"/>
            <a:ext cx="3568732" cy="2628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Agent policy</a:t>
            </a:r>
          </a:p>
          <a:p xmlns:a="http://schemas.openxmlformats.org/drawingml/2006/main">
            <a:pPr algn="l">
              <a:defRPr sz="2400">
                <a:solidFill>
                  <a:srgbClr val="000000"/>
                </a:solidFill>
                <a:latin typeface="Helvetica Neue"/>
                <a:ea typeface="Helvetica Neue"/>
                <a:cs typeface="Helvetica Neue"/>
              </a:defRPr>
            </a:pPr>
            <a:r>
              <a:t>A deterministic policy authorizes spend before any settlement call.</a:t>
            </a:r>
          </a:p>
        </p:txBody>
      </p:sp>
      <p:sp>
        <p:nvSpPr>
          <p:cNvPr id="4" name="Content-Placeholder-1-5">
            <a:extLst xmlns:a="http://schemas.openxmlformats.org/drawingml/2006/main">
              <a:ext uri="{FF2B5EF4-FFF2-40B4-BE49-F238E27FC236}">
                <a16:creationId xmlns:a16="http://schemas.microsoft.com/office/drawing/2014/main" id="{D035C726-ACFD-49BB-BCB2-529FF77134A6}"/>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Arc + x402</a:t>
            </a:r>
          </a:p>
          <a:p xmlns:a="http://schemas.openxmlformats.org/drawingml/2006/main">
            <a:pPr algn="l">
              <a:defRPr sz="2400">
                <a:solidFill>
                  <a:srgbClr val="000000"/>
                </a:solidFill>
                <a:latin typeface="Helvetica Neue"/>
                <a:ea typeface="Helvetica Neue"/>
                <a:cs typeface="Helvetica Neue"/>
              </a:defRPr>
            </a:pPr>
            <a:r>
              <a:t>Predictable USDC fees and HTTP 402 make paid machine resources composable.</a:t>
            </a:r>
          </a:p>
        </p:txBody>
      </p:sp>
      <p:sp>
        <p:nvSpPr>
          <p:cNvPr id="5" name="Content-Placeholder-2-6">
            <a:extLst xmlns:a="http://schemas.openxmlformats.org/drawingml/2006/main">
              <a:ext uri="{FF2B5EF4-FFF2-40B4-BE49-F238E27FC236}">
                <a16:creationId xmlns:a16="http://schemas.microsoft.com/office/drawing/2014/main" id="{58D2D180-6681-49A0-B246-F71728133AC2}"/>
              </a:ext>
            </a:extLst>
          </p:cNvPr>
          <p:cNvSpPr>
            <a:spLocks xmlns:a="http://schemas.openxmlformats.org/drawingml/2006/main" noGrp="1"/>
          </p:cNvSpPr>
          <p:nvPr/>
        </p:nvSpPr>
        <p:spPr>
          <a:xfrm xmlns:a="http://schemas.openxmlformats.org/drawingml/2006/main">
            <a:off x="4311682"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Circle Wallets</a:t>
            </a:r>
          </a:p>
          <a:p xmlns:a="http://schemas.openxmlformats.org/drawingml/2006/main">
            <a:pPr algn="l">
              <a:defRPr sz="2400">
                <a:solidFill>
                  <a:srgbClr val="000000"/>
                </a:solidFill>
                <a:latin typeface="Helvetica Neue"/>
                <a:ea typeface="Helvetica Neue"/>
                <a:cs typeface="Helvetica Neue"/>
              </a:defRPr>
            </a:pPr>
            <a:r>
              <a:t>The live path creates USDC transfers; the public judge deployment is fail-closed in mock mode.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82733e6241c497a"/>
          <a:stretch xmlns:a="http://schemas.openxmlformats.org/drawingml/2006/main"/>
        </p:blipFill>
        <p:spPr>
          <a:xfrm xmlns:a="http://schemas.openxmlformats.org/drawingml/2006/main">
            <a:off x="7503205" y="1333500"/>
            <a:ext cx="2757714" cy="1809750"/>
          </a:xfrm>
          <a:prstGeom xmlns:a="http://schemas.openxmlformats.org/drawingml/2006/main" prst="roundRect">
            <a:avLst/>
          </a:prstGeom>
        </p:spPr>
      </p:pic>
      <p:sp>
        <p:nvSpPr>
          <p:cNvPr id="7" name="verified-build-proof">
            <a:extLst xmlns:a="http://schemas.openxmlformats.org/drawingml/2006/main">
              <a:ext uri="{FF2B5EF4-FFF2-40B4-BE49-F238E27FC236}">
                <a16:creationId xmlns:a16="http://schemas.microsoft.com/office/drawing/2014/main" id="{84726B0B-0807-4D93-9604-47E4CEF97BE2}"/>
              </a:ext>
            </a:extLst>
          </p:cNvPr>
          <p:cNvSpPr>
            <a:spLocks xmlns:a="http://schemas.openxmlformats.org/drawingml/2006/main" noGrp="1"/>
          </p:cNvSpPr>
          <p:nvPr/>
        </p:nvSpPr>
        <p:spPr>
          <a:xfrm xmlns:a="http://schemas.openxmlformats.org/drawingml/2006/main">
            <a:off x="393668" y="1743075"/>
            <a:ext cx="5191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00000"/>
                </a:solidFill>
              </a:defRPr>
            </a:pPr>
            <a:r>
              <a:rPr sz="1875" b="1">
                <a:solidFill>
                  <a:srgbClr val="000000"/>
                </a:solidFill>
              </a:rPr>
              <a:t>26/26 backend tests passed</a:t>
            </a:r>
          </a:p>
          <a:p xmlns:a="http://schemas.openxmlformats.org/drawingml/2006/main">
            <a:pPr>
              <a:defRPr sz="1875" b="1">
                <a:solidFill>
                  <a:srgbClr val="000000"/>
                </a:solidFill>
              </a:defRPr>
            </a:pPr>
            <a:r>
              <a:rPr sz="1875" b="1">
                <a:solidFill>
                  <a:srgbClr val="000000"/>
                </a:solidFill>
              </a:rPr>
              <a:t>HTTP 200 health · x402 402→200 · Agent 201</a:t>
            </a:r>
          </a:p>
        </p:txBody>
      </p:sp>
    </p:spTree>
    <p:extLst>
      <p:ext uri="{BB962C8B-B14F-4D97-AF65-F5344CB8AC3E}">
        <p14:creationId xmlns:p14="http://schemas.microsoft.com/office/powerpoint/2010/main" val="58282529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Title-3-1">
            <a:extLst xmlns:a="http://schemas.openxmlformats.org/drawingml/2006/main">
              <a:ext uri="{FF2B5EF4-FFF2-40B4-BE49-F238E27FC236}">
                <a16:creationId xmlns:a16="http://schemas.microsoft.com/office/drawing/2014/main" id="{5D0C2E96-1D7F-47C4-90AE-2ADCE115D47E}"/>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Agents read.
Creators get paid.</a:t>
            </a:r>
          </a:p>
        </p:txBody>
      </p:sp>
      <p:sp>
        <p:nvSpPr>
          <p:cNvPr id="2" name="Subtitle-4-2">
            <a:extLst xmlns:a="http://schemas.openxmlformats.org/drawingml/2006/main">
              <a:ext uri="{FF2B5EF4-FFF2-40B4-BE49-F238E27FC236}">
                <a16:creationId xmlns:a16="http://schemas.microsoft.com/office/drawing/2014/main" id="{5EA278AD-3CC3-4636-B6DA-9B876C8DC60B}"/>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LIVE DEMO</a:t>
            </a:r>
          </a:p>
          <a:p xmlns:a="http://schemas.openxmlformats.org/drawingml/2006/main">
            <a:pPr algn="l">
              <a:defRPr sz="2400">
                <a:solidFill>
                  <a:srgbClr val="000000"/>
                </a:solidFill>
                <a:latin typeface="Helvetica Neue"/>
                <a:ea typeface="Helvetica Neue"/>
                <a:cs typeface="Helvetica Neue"/>
              </a:defRPr>
            </a:pPr>
            <a:r>
              <a:t>PUBLIC CODE</a:t>
            </a:r>
          </a:p>
          <a:p xmlns:a="http://schemas.openxmlformats.org/drawingml/2006/main">
            <a:pPr algn="l">
              <a:defRPr sz="2400">
                <a:solidFill>
                  <a:srgbClr val="000000"/>
                </a:solidFill>
                <a:latin typeface="Helvetica Neue"/>
                <a:ea typeface="Helvetica Neue"/>
                <a:cs typeface="Helvetica Neue"/>
              </a:defRPr>
            </a:pPr>
            <a:r>
              <a:t>AGENTIC ECONOMY</a:t>
            </a:r>
          </a:p>
        </p:txBody>
      </p:sp>
      <p:sp>
        <p:nvSpPr>
          <p:cNvPr id="3" name="Subtitle-4-3">
            <a:extLst xmlns:a="http://schemas.openxmlformats.org/drawingml/2006/main">
              <a:ext uri="{FF2B5EF4-FFF2-40B4-BE49-F238E27FC236}">
                <a16:creationId xmlns:a16="http://schemas.microsoft.com/office/drawing/2014/main" id="{93C5AC08-A907-4DBD-8A08-4EEF40034FB6}"/>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SHIP STATUS</a:t>
            </a:r>
          </a:p>
        </p:txBody>
      </p:sp>
      <p:sp>
        <p:nvSpPr>
          <p:cNvPr id="4" name="submission-links">
            <a:extLst xmlns:a="http://schemas.openxmlformats.org/drawingml/2006/main">
              <a:ext uri="{FF2B5EF4-FFF2-40B4-BE49-F238E27FC236}">
                <a16:creationId xmlns:a16="http://schemas.microsoft.com/office/drawing/2014/main" id="{C7A146D2-BB5D-4013-9010-8AAF142B3AB0}"/>
              </a:ext>
            </a:extLst>
          </p:cNvPr>
          <p:cNvSpPr>
            <a:spLocks xmlns:a="http://schemas.openxmlformats.org/drawingml/2006/main" noGrp="1"/>
          </p:cNvSpPr>
          <p:nvPr/>
        </p:nvSpPr>
        <p:spPr>
          <a:xfrm xmlns:a="http://schemas.openxmlformats.org/drawingml/2006/main">
            <a:off x="4095750" y="4953000"/>
            <a:ext cx="738187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000000"/>
                </a:solidFill>
              </a:defRPr>
            </a:pPr>
            <a:r>
              <a:rPr sz="1650">
                <a:solidFill>
                  <a:srgbClr val="000000"/>
                </a:solidFill>
              </a:rPr>
              <a:t>obol-programmable-money.onrender.com</a:t>
            </a:r>
          </a:p>
          <a:p xmlns:a="http://schemas.openxmlformats.org/drawingml/2006/main">
            <a:pPr>
              <a:defRPr sz="1650">
                <a:solidFill>
                  <a:srgbClr val="000000"/>
                </a:solidFill>
              </a:defRPr>
            </a:pPr>
            <a:r>
              <a:rPr sz="1650">
                <a:solidFill>
                  <a:srgbClr val="000000"/>
                </a:solidFill>
              </a:rPr>
              <a:t>github.com/xiangchengzilema/obol-programmable-money</a:t>
            </a:r>
          </a:p>
          <a:p xmlns:a="http://schemas.openxmlformats.org/drawingml/2006/main">
            <a:pPr>
              <a:defRPr sz="1650">
                <a:solidFill>
                  <a:srgbClr val="000000"/>
                </a:solidFill>
              </a:defRPr>
            </a:pPr>
            <a:r>
              <a:rPr sz="1650">
                <a:solidFill>
                  <a:srgbClr val="000000"/>
                </a:solidFill>
              </a:rPr>
              <a:t>Arc Programmable Money Hackathon</a:t>
            </a:r>
          </a:p>
        </p:txBody>
      </p:sp>
      <p:sp>
        <p:nvSpPr>
          <p:cNvPr id="5" name="settlement-mode-label">
            <a:extLst xmlns:a="http://schemas.openxmlformats.org/drawingml/2006/main">
              <a:ext uri="{FF2B5EF4-FFF2-40B4-BE49-F238E27FC236}">
                <a16:creationId xmlns:a16="http://schemas.microsoft.com/office/drawing/2014/main" id="{0EFDF585-FD9D-418E-A650-121C6B0FB796}"/>
              </a:ext>
            </a:extLst>
          </p:cNvPr>
          <p:cNvSpPr>
            <a:spLocks xmlns:a="http://schemas.openxmlformats.org/drawingml/2006/main" noGrp="1"/>
          </p:cNvSpPr>
          <p:nvPr/>
        </p:nvSpPr>
        <p:spPr>
          <a:xfrm xmlns:a="http://schemas.openxmlformats.org/drawingml/2006/main">
            <a:off x="8858250" y="495300"/>
            <a:ext cx="2647950" cy="381000"/>
          </a:xfrm>
          <a:prstGeom xmlns:a="http://schemas.openxmlformats.org/drawingml/2006/main" prst="roundRect">
            <a:avLst>
              <a:gd name="adj" fmla="val 30000"/>
            </a:avLst>
          </a:prstGeom>
          <a:solidFill xmlns:a="http://schemas.openxmlformats.org/drawingml/2006/main">
            <a:srgbClr val="091418"/>
          </a:solidFill>
          <a:ln xmlns:a="http://schemas.openxmlformats.org/drawingml/2006/main" w="9525">
            <a:solidFill>
              <a:srgbClr val="38E8C6"/>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38E8C6"/>
                </a:solidFill>
              </a:defRPr>
            </a:pPr>
            <a:r>
              <a:rPr sz="1200" b="1">
                <a:solidFill>
                  <a:srgbClr val="38E8C6"/>
                </a:solidFill>
              </a:rPr>
              <a:t>PUBLIC · NO LOGIN REQUIRED</a:t>
            </a:r>
          </a:p>
        </p:txBody>
      </p:sp>
    </p:spTree>
    <p:extLst>
      <p:ext uri="{BB962C8B-B14F-4D97-AF65-F5344CB8AC3E}">
        <p14:creationId xmlns:p14="http://schemas.microsoft.com/office/powerpoint/2010/main" val="10273478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2026-07-28T08:21:17.3460000Z</dcterms:created>
  <dcterms:modified xsi:type="dcterms:W3CDTF">2026-07-28T08:21:17.3470000Z</dcterms:modified>
</coreProperties>
</file>